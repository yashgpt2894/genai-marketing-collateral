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0:30 · by 0:30</a:t>
            </a:r>
          </a:p>
          <a:p/>
          <a:p>
            <a:r>
              <a:t>Open with — 'Before I design anything, can I confirm the goal, the data, the latency class, the budget, and any privacy rules?' Then walk the 5 steps; lead with the simplest thing that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1:30 · by 2:00</a:t>
            </a:r>
          </a:p>
          <a:p/>
          <a:p>
            <a:r>
              <a:t>Problem &amp; business value — frame in the client's unit: editor time + cost per brochure, and the risk of a factual error in a B2B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1:15 · by 3:15</a:t>
            </a:r>
          </a:p>
          <a:p/>
          <a:p>
            <a:r>
              <a:t>Endpoints (the brief): POST /companies/{pair}/documents → upload, async parse, brief · POST /generate {pair_id, prompt, template_id} → 200 ArticleJSON (synchronous). ?async=true → 202 + job_id, then poll GET /generate/{pair}/{job}. Internal pipeline: parse → ground → draft → map → validate &amp; repair → ArticleJSON.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1:15 · by 4:30</a:t>
            </a:r>
          </a:p>
          <a:p/>
          <a:p>
            <a:r>
              <a:t>Models: gemini-2.5-pro = writer · gemini-2.5-flash = parse + verify + repair (cheap). 3.x not enabled in this project yet → model is a swappable env var (MODEL_WRITER / MODEL_PARSER). Schema-valid JSON = Gemini controlled generation + Pydantic response_schema (decode-time). Grounding = long-context (no vector DB for 2 companies); RAG swap = Vertex AI RAG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2:30 · by 7:00</a:t>
            </a:r>
          </a:p>
          <a:p/>
          <a:p>
            <a:r>
              <a:t>GCP stack — Cloud Run (serverless, scale-to-zero, europe-west1) · Vertex AI / Gemini (NO API key: service-account ADC; GOOGLE_GENAI_USE_VERTEXAI=true, GOOGLE_CLOUD_LOCATION=global) · GCS (PDFs + assets, CMEK key collateral-bucket-key) · Firestore (Native mode, europe-west1: briefs/jobs/outputs) · Pub/Sub + DLQ (async parse worker) · Artifact Registry + Cloud Build (CD: push→build→deploy). Least-privilege Cloud Run SA = ONLY roles/datastore.user + roles/aiplatform.user + bucket storage.objectAdmin + roles/pubsub.publisher. At-scale managed PDF-parse swap = Document AI.</a:t>
            </a:r>
          </a:p>
          <a:p/>
          <a:p>
            <a:r>
              <a:t>AWS equivalents: Cloud Run→App Runner / ECS-Fargate / Lambda · GCS→S3 · Firestore→DynamoDB · Pub/Sub+DLQ→SNS+SQS (or EventBridge) · Vertex/Gemini→Bedrock (Claude) · Document AI→Textract · CMEK→KMS · Cloud Build→CodePipeline/CodeBuild · Artifact Registry→ECR · Memorystore→ElastiCache · BigQuery→Athena/Redshift · Looker→QuickSight · Secret Manager→Secrets Manager · Identity Platform→Cognito · Model Armor→Bedrock Guardrails · IAM→IAM.</a:t>
            </a:r>
          </a:p>
          <a:p/>
          <a:p>
            <a:r>
              <a:t>100% prod-ready for a big org — gaps to own: (1) Multi-tenancy ENFORCED — tenant from the verified token claim + per-tenant CMEK + quotas/budgets (today single-tenant, header-trusted). (2) Network — VPC-SC perimeter, internal-only ingress (IAP / private LB), no public URL. (3) PII — Cloud DLP inspect/redact on ingestion + GDPR right-to-erasure purge. (4) Safety — Model Armor on the model calls. (5) Scale — drop --max-instances 1, run on Firestore+GCS (already supported), tune autoscaling, manage Vertex quota / provisioned throughput. (6) Observability/SLOs — Cloud Trace + Cloud Monitoring alerts + Error Reporting; wire Looker (BigQuery export already built). (7) Cost — per-tenant rate limits + Cloud Billing budget alerts + token caps. (8) CI/CD — tests GATE the pipeline + staging env + canary/blue-green + image scanning + Binary Authorization. (9) DR/backups — Firestore export, GCS object versioning, multi-region failover. (10) Auth — real IdP/SSO (Identity Platform / Okta) + per-tenant RBAC + Cloud Audit Logs. (11) Compliance — SOC2 / ISO / GDPR + a DPA (Vertex enterprise terms: prompts don't train Google's models).</a:t>
            </a:r>
          </a:p>
          <a:p>
            <a:r>
              <a:t>Already in place: CMEK · EU storage · least-priv IAM · Pub/Sub DLQ · Terraform IaC · 51 CI tests · eval harness · 365-day retention.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1:15 · by 8:15</a:t>
            </a:r>
          </a:p>
          <a:p/>
          <a:p>
            <a:r>
              <a:t>Faithfulness = claim-level check: every factual block cites a brief fact-id (e.g. recv.fact.3); a dangling/unsupported cite lowers the score. Writer uses ONLY brief facts and ABSTAINS rather than invent. Citations = internal fact-ids, not footnotes. Grounding reduces but does NOT eliminate hallucination → citations + human review before publish (HITL).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1:15 · by 9:30</a:t>
            </a:r>
          </a:p>
          <a:p/>
          <a:p>
            <a:r>
              <a:t>Word limits enforced IN CODE, not by the model (LLMs cannot count tokens). Repair loop is CAPPED (K tries) → graceful fallback = sentence-boundary truncation, flagged in constraints.truncated_blocks (never a hard error). Template = typed Pydantic contract (blocks: id, type, min/max words, image slot + role, theme color in palette). Schema validity guaranteed by controlled generation.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1:30 · by 11:00</a:t>
            </a:r>
          </a:p>
          <a:p/>
          <a:p>
            <a:r>
              <a:t>Auth = TWO layers (defense in depth): authN = Google ID-token (HTTPBearer, verified per request, AUTH_MODE=google); authZ = Cloud Run IAM run.invoker. Injection = parse-time HARD gate, fail closed: Gemini self-flag (primary, reads whole PDF) + regex backup → reject + persist nothing. PDF = DATA channel, not instructions. Managed prod version = Model Armor. Storage = EU (europe-west1) + CMEK; model calls use the GLOBAL Vertex endpoint → EU model-residency is the open gap. Cloud Run scales 0→N on concurrency; parse runs off the request path (Pub/Sub + DLQ).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1:45 · by 12:45</a:t>
            </a:r>
          </a:p>
          <a:p/>
          <a:p>
            <a:r>
              <a:t>Cost ≈ $0.012 per article (measured: token count + USD stamped on every output). 51 offline tests (no network, no real model). Demo flow: curl upload sender + receiver PDFs → GET /companies/{pair} (poll until both briefs ready) → POST /generate → 200 ArticleJSON. Writer = 2.5 Pro, parse/verify = 2.5 Flash.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0:45 · by 13:30</a:t>
            </a:r>
          </a:p>
          <a:p/>
          <a:p>
            <a:r>
              <a:t>Deterministic typed DAG, NOT an agent (fixed flow, no dynamic looping). Long-context, NOT RAG (2-company corpus fits ~1M tokens; vector DB is overkill). Managed Gemini, NOT self-host/fine-tune (ship fast, ~$0.01/unit, no GPUs). Limits + image choice in CODE, not the model. Cloud Run, NOT GKE / Agent Engine (right-sized; scale-to-zero). Agentic scale-up path = Google ADK + Vertex AI Agent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0:45 · by 14:15</a:t>
            </a:r>
          </a:p>
          <a:p/>
          <a:p>
            <a:r>
              <a:t>Multi-tenant: derive tenant from the verified TOKEN CLAIM (today it is the X-Tenant-ID header, default 'default') + per-tenant CMEK + rate/cost budgets — a config + auth-claim change, NOT a refactor (storage already keyed tenant-first). Org dashboard: BigQuery export is built → only Looker wiring left. Go agentic → Vertex AI Agent Engine (ADK). Harden: Model Armor (injection) · EU model residency · VPC-SC · Secret Manager · Cloud DLP (PII scrub on ingestion).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ML6 · SENIOR AI ENGINEER · CASE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874519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FFFFF"/>
                </a:solidFill>
                <a:latin typeface="Trebuchet MS"/>
              </a:rPr>
              <a:t>Automated Generative</a:t>
            </a:r>
          </a:p>
          <a:p>
            <a:pPr algn="l">
              <a:lnSpc>
                <a:spcPct val="102000"/>
              </a:lnSpc>
            </a:pPr>
            <a:r>
              <a:rPr sz="4600" b="1">
                <a:solidFill>
                  <a:srgbClr val="FFFFFF"/>
                </a:solidFill>
                <a:latin typeface="Trebuchet MS"/>
              </a:rPr>
              <a:t>Marketing Collateral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7763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C7D0DE"/>
                </a:solidFill>
                <a:latin typeface="Calibri"/>
              </a:rPr>
              <a:t>Company PDFs → on-brand, factually-grounded B2B articles, as structured JSON.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434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E8CA0"/>
                </a:solidFill>
                <a:latin typeface="Consolas"/>
              </a:rPr>
              <a:t>A deterministic, grounded LLM pipeline — deployed end-to-end on Google Cloud.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Editors hand-build every personalized brochure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Research</a:t>
            </a:r>
          </a:p>
          <a:p>
            <a:pPr algn="ctr"/>
            <a:r>
              <a:rPr sz="1050">
                <a:solidFill>
                  <a:srgbClr val="64748B"/>
                </a:solidFill>
                <a:latin typeface="Calibri"/>
              </a:rPr>
              <a:t>read both companies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73552" y="2971800"/>
            <a:ext cx="237744" cy="0"/>
          </a:xfrm>
          <a:prstGeom prst="line">
            <a:avLst/>
          </a:prstGeom>
          <a:ln w="1905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538728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Write</a:t>
            </a:r>
          </a:p>
          <a:p>
            <a:pPr algn="ctr"/>
            <a:r>
              <a:rPr sz="1050">
                <a:solidFill>
                  <a:srgbClr val="64748B"/>
                </a:solidFill>
                <a:latin typeface="Calibri"/>
              </a:rPr>
              <a:t>draft a bridging article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35040" y="2971800"/>
            <a:ext cx="237744" cy="0"/>
          </a:xfrm>
          <a:prstGeom prst="line">
            <a:avLst/>
          </a:prstGeom>
          <a:ln w="1905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300216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Gather assets</a:t>
            </a:r>
          </a:p>
          <a:p>
            <a:pPr algn="ctr"/>
            <a:r>
              <a:rPr sz="1050">
                <a:solidFill>
                  <a:srgbClr val="64748B"/>
                </a:solidFill>
                <a:latin typeface="Calibri"/>
              </a:rPr>
              <a:t>logos &amp; images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96528" y="2971800"/>
            <a:ext cx="237744" cy="0"/>
          </a:xfrm>
          <a:prstGeom prst="line">
            <a:avLst/>
          </a:prstGeom>
          <a:ln w="1905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061704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Fight the template</a:t>
            </a:r>
          </a:p>
          <a:p>
            <a:pPr algn="ctr"/>
            <a:r>
              <a:rPr sz="1050">
                <a:solidFill>
                  <a:srgbClr val="64748B"/>
                </a:solidFill>
                <a:latin typeface="Calibri"/>
              </a:rPr>
              <a:t>fit columns, limits, colours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148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Calibri"/>
              </a:rPr>
              <a:t>Slow, repetitive, at volume — hours of editor time per brochure.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Calibri"/>
              </a:rPr>
              <a:t>Automating research → layout turns that into seconds of compute at consistent, on-brand quality.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THE SOLUTION · END-TO-END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Two endpoints, one deterministic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788920"/>
            <a:ext cx="1572768" cy="10972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Two PDFs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sender + receiver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59151" y="3337560"/>
            <a:ext cx="219457" cy="0"/>
          </a:xfrm>
          <a:prstGeom prst="line">
            <a:avLst/>
          </a:prstGeom>
          <a:ln w="2032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587752" y="2788920"/>
            <a:ext cx="1572768" cy="10972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Parse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PyMuPDF + Gemini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69663" y="3337560"/>
            <a:ext cx="219457" cy="0"/>
          </a:xfrm>
          <a:prstGeom prst="line">
            <a:avLst/>
          </a:prstGeom>
          <a:ln w="2032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98264" y="2788920"/>
            <a:ext cx="1572768" cy="10972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Briefs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cited facts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80176" y="3337560"/>
            <a:ext cx="219456" cy="0"/>
          </a:xfrm>
          <a:prstGeom prst="line">
            <a:avLst/>
          </a:prstGeom>
          <a:ln w="2032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08776" y="2788920"/>
            <a:ext cx="1572768" cy="10972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Generate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draft → verify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3337560"/>
            <a:ext cx="219456" cy="0"/>
          </a:xfrm>
          <a:prstGeom prst="line">
            <a:avLst/>
          </a:prstGeom>
          <a:ln w="2032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019288" y="2788920"/>
            <a:ext cx="1572768" cy="10972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ArticleJSON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layout-valid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01200" y="3337560"/>
            <a:ext cx="219456" cy="0"/>
          </a:xfrm>
          <a:prstGeom prst="line">
            <a:avLst/>
          </a:prstGeom>
          <a:ln w="2032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829800" y="2788920"/>
            <a:ext cx="1572768" cy="10972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Brochure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render +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1992" y="2368296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FB5A6"/>
                </a:solidFill>
                <a:latin typeface="Consolas"/>
              </a:rPr>
              <a:t>POST /…/documents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51576" y="2368296"/>
            <a:ext cx="2487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FB5A6"/>
                </a:solidFill>
                <a:latin typeface="Consolas"/>
              </a:rPr>
              <a:t>POST /generate → 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605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One continuous pipeline — input PDFs → grounded, cited ArticleJSON → rendered brochure. Deterministic, typed, fully traceable.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983480"/>
            <a:ext cx="2743200" cy="310896"/>
          </a:xfrm>
          <a:prstGeom prst="roundRect">
            <a:avLst/>
          </a:prstGeom>
          <a:noFill/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>
                <a:solidFill>
                  <a:srgbClr val="0FB5A6"/>
                </a:solidFill>
                <a:latin typeface="Consolas"/>
              </a:rPr>
              <a:t>auth: Bearer ID token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0" y="4983480"/>
            <a:ext cx="3108960" cy="310896"/>
          </a:xfrm>
          <a:prstGeom prst="roundRect">
            <a:avLst/>
          </a:prstGeom>
          <a:noFill/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>
                <a:solidFill>
                  <a:srgbClr val="0FB5A6"/>
                </a:solidFill>
                <a:latin typeface="Consolas"/>
              </a:rPr>
              <a:t>structured JSON, schema-valid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4983480"/>
            <a:ext cx="3200400" cy="310896"/>
          </a:xfrm>
          <a:prstGeom prst="roundRect">
            <a:avLst/>
          </a:prstGeom>
          <a:noFill/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>
                <a:solidFill>
                  <a:srgbClr val="0FB5A6"/>
                </a:solidFill>
                <a:latin typeface="Consolas"/>
              </a:rPr>
              <a:t>every word limit enforced in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FFFFFF"/>
                </a:solidFill>
                <a:latin typeface="Trebuchet MS"/>
              </a:rPr>
              <a:t>Contextual retrieval → LLM interaction → layout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3383280" cy="274320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1 · CONTEXTUAL RETRIEVAL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29260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PDFs → distilled briefs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source-tagged facts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long-context (no RAG yet)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206240" y="3474720"/>
            <a:ext cx="320040" cy="0"/>
          </a:xfrm>
          <a:prstGeom prst="line">
            <a:avLst/>
          </a:prstGeom>
          <a:ln w="25400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572000" y="2103120"/>
            <a:ext cx="3383280" cy="274320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331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2 · LLM INTERACTION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971800"/>
            <a:ext cx="29260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draft — Gemini 2.5 Pro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grounded, inline citations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verify — 2.5 Flash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001000" y="3474720"/>
            <a:ext cx="320039" cy="0"/>
          </a:xfrm>
          <a:prstGeom prst="line">
            <a:avLst/>
          </a:prstGeom>
          <a:ln w="25400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366760" y="2103120"/>
            <a:ext cx="3383280" cy="274320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331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3 · LAYOUT / FORMATTING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971800"/>
            <a:ext cx="29260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map to template blocks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validate limits in code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repair loop → JSON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206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7E8CA0"/>
                </a:solidFill>
                <a:latin typeface="Consolas"/>
              </a:rPr>
              <a:t>A fixed DAG — deterministic, typed, traceable. Not an open-ended agent.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ARCHITECTURE · GOOGLE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FFFFFF"/>
                </a:solidFill>
                <a:latin typeface="Trebuchet MS"/>
              </a:rPr>
              <a:t>Managed, stateless, scales to zero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2286000" cy="73152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Client / curl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Bearer ID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1965960"/>
            <a:ext cx="4754880" cy="731520"/>
          </a:xfrm>
          <a:prstGeom prst="roundRect">
            <a:avLst/>
          </a:prstGeom>
          <a:solidFill>
            <a:srgbClr val="0B2E2A"/>
          </a:solidFill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Cloud Run · API (FastAPI)</a:t>
            </a:r>
          </a:p>
          <a:p>
            <a:pPr algn="ctr"/>
            <a:r>
              <a:rPr sz="950">
                <a:solidFill>
                  <a:srgbClr val="C7D0DE"/>
                </a:solidFill>
                <a:latin typeface="Calibri"/>
              </a:rPr>
              <a:t>auth · stateless · scale-to-zero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331720"/>
            <a:ext cx="502920" cy="0"/>
          </a:xfrm>
          <a:prstGeom prst="line">
            <a:avLst/>
          </a:prstGeom>
          <a:ln w="22225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657600" y="3108960"/>
            <a:ext cx="4754880" cy="77724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Pub/Sub → parse worker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PyMuPDF + Gemini 2.5 Flash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35040" y="2697480"/>
            <a:ext cx="0" cy="393192"/>
          </a:xfrm>
          <a:prstGeom prst="line">
            <a:avLst/>
          </a:prstGeom>
          <a:ln w="22225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869680" y="1965960"/>
            <a:ext cx="2560320" cy="77724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Vertex AI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Gemini 2.5 Pro / Flash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12480" y="2331720"/>
            <a:ext cx="411480" cy="0"/>
          </a:xfrm>
          <a:prstGeom prst="line">
            <a:avLst/>
          </a:prstGeom>
          <a:ln w="22225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657600" y="4297680"/>
            <a:ext cx="2286000" cy="77724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Firestore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briefs · jobs · outputs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4297680"/>
            <a:ext cx="2286000" cy="77724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Cloud Storage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PDFs · assets · CMEK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4846320" y="3886200"/>
            <a:ext cx="640080" cy="393192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83680" y="3886200"/>
            <a:ext cx="640080" cy="393192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" y="3246120"/>
            <a:ext cx="2697480" cy="1554480"/>
          </a:xfrm>
          <a:prstGeom prst="roundRect">
            <a:avLst/>
          </a:prstGeom>
          <a:solidFill>
            <a:srgbClr val="1B2230"/>
          </a:solidFill>
          <a:ln w="25400">
            <a:solidFill>
              <a:srgbClr val="E0A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4015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60">
                <a:solidFill>
                  <a:srgbClr val="E0A23E"/>
                </a:solidFill>
                <a:latin typeface="Consolas"/>
              </a:rPr>
              <a:t>WHY CLOUD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730752"/>
            <a:ext cx="2331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7D0DE"/>
                </a:solidFill>
                <a:latin typeface="Calibri"/>
              </a:rPr>
              <a:t>Deterministic + tool-less → one stateless service. No agent runtime, no servers — scale-to-zero, tiny blast radius.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2240280" y="2578608"/>
            <a:ext cx="1463040" cy="667512"/>
          </a:xfrm>
          <a:prstGeom prst="line">
            <a:avLst/>
          </a:prstGeom>
          <a:ln w="25400">
            <a:solidFill>
              <a:srgbClr val="E0A2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778240" y="2852928"/>
            <a:ext cx="2651760" cy="676656"/>
          </a:xfrm>
          <a:prstGeom prst="roundRect">
            <a:avLst/>
          </a:prstGeom>
          <a:solidFill>
            <a:srgbClr val="1B2230"/>
          </a:solidFill>
          <a:ln w="19050">
            <a:solidFill>
              <a:srgbClr val="E0A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79408" y="2944368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260">
                <a:solidFill>
                  <a:srgbClr val="E0A23E"/>
                </a:solidFill>
                <a:latin typeface="Consolas"/>
              </a:rPr>
              <a:t>NO API KEY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9408" y="3200400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C7D0DE"/>
                </a:solidFill>
                <a:latin typeface="Calibri"/>
              </a:rPr>
              <a:t>Vertex via the Cloud Run service account (ADC)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3639312"/>
            <a:ext cx="2651760" cy="960120"/>
          </a:xfrm>
          <a:prstGeom prst="roundRect">
            <a:avLst/>
          </a:prstGeom>
          <a:solidFill>
            <a:srgbClr val="1B2230"/>
          </a:solidFill>
          <a:ln w="19050">
            <a:solidFill>
              <a:srgbClr val="E0A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79408" y="3730752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260">
                <a:solidFill>
                  <a:srgbClr val="E0A23E"/>
                </a:solidFill>
                <a:latin typeface="Consolas"/>
              </a:rPr>
              <a:t>ASYNC PARSE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4005072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7D0DE"/>
                </a:solidFill>
                <a:latin typeface="Calibri"/>
              </a:rPr>
              <a:t>Pub/Sub queues parse/upload bursts (+ DLQ), off the request path.</a:t>
            </a:r>
          </a:p>
        </p:txBody>
      </p:sp>
      <p:cxnSp>
        <p:nvCxnSpPr>
          <p:cNvPr id="26" name="Connector 25"/>
          <p:cNvCxnSpPr/>
          <p:nvPr/>
        </p:nvCxnSpPr>
        <p:spPr>
          <a:xfrm flipH="1" flipV="1">
            <a:off x="8430768" y="3584448"/>
            <a:ext cx="329184" cy="393191"/>
          </a:xfrm>
          <a:prstGeom prst="line">
            <a:avLst/>
          </a:prstGeom>
          <a:ln w="19050">
            <a:solidFill>
              <a:srgbClr val="E0A2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13232" y="5321808"/>
            <a:ext cx="10744200" cy="786384"/>
          </a:xfrm>
          <a:prstGeom prst="roundRect">
            <a:avLst/>
          </a:prstGeom>
          <a:noFill/>
          <a:ln w="15875">
            <a:solidFill>
              <a:srgbClr val="E0A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41324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260">
                <a:solidFill>
                  <a:srgbClr val="E0A23E"/>
                </a:solidFill>
                <a:latin typeface="Consolas"/>
              </a:rPr>
              <a:t>SECURITY SPINE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724144"/>
            <a:ext cx="10469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FB0C8"/>
                </a:solidFill>
                <a:latin typeface="Consolas"/>
              </a:rPr>
              <a:t>Google ID-token auth + IAM   ·   CMEK   ·   EU-region storage   ·   Pub/Sub DLQ   ·   Terraform (infra/)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THE CRUX · FACTUAL CORRECTNESS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Grounded, cited, verified — and honest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Briefs only</a:t>
            </a:r>
          </a:p>
          <a:p>
            <a:pPr algn="ctr"/>
            <a:r>
              <a:rPr sz="1050">
                <a:solidFill>
                  <a:srgbClr val="475569"/>
                </a:solidFill>
                <a:latin typeface="Calibri"/>
              </a:rPr>
              <a:t>distilled facts,
never raw PDF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73552" y="297180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538728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Inline citations</a:t>
            </a:r>
          </a:p>
          <a:p>
            <a:pPr algn="ctr"/>
            <a:r>
              <a:rPr sz="1050">
                <a:solidFill>
                  <a:srgbClr val="475569"/>
                </a:solidFill>
                <a:latin typeface="Calibri"/>
              </a:rPr>
              <a:t>every claim →
a brief fact-id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35040" y="297180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300216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Verify</a:t>
            </a:r>
          </a:p>
          <a:p>
            <a:pPr algn="ctr"/>
            <a:r>
              <a:rPr sz="1050">
                <a:solidFill>
                  <a:srgbClr val="475569"/>
                </a:solidFill>
                <a:latin typeface="Calibri"/>
              </a:rPr>
              <a:t>claim-level check,
flag unsupported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96528" y="297180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061704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Human review</a:t>
            </a:r>
          </a:p>
          <a:p>
            <a:pPr algn="ctr"/>
            <a:r>
              <a:rPr sz="1050">
                <a:solidFill>
                  <a:srgbClr val="475569"/>
                </a:solidFill>
                <a:latin typeface="Calibri"/>
              </a:rPr>
              <a:t>reviewable draft;
never auto-publish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Calibri"/>
              </a:rPr>
              <a:t>Grounding reduces hallucination — it doesn't eliminate it. So citations stay, and a human approves before anything is mailed.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LAYOUT = HARD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Don't trust the model to count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377440"/>
            <a:ext cx="2286000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0151E"/>
                </a:solidFill>
                <a:latin typeface="Calibri"/>
              </a:rPr>
              <a:t>Draft block</a:t>
            </a:r>
          </a:p>
          <a:p>
            <a:pPr algn="ctr"/>
            <a:r>
              <a:rPr sz="950">
                <a:solidFill>
                  <a:srgbClr val="64748B"/>
                </a:solidFill>
                <a:latin typeface="Calibri"/>
              </a:rPr>
              <a:t>controlled generation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108960" y="2880360"/>
            <a:ext cx="594360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749039" y="2377440"/>
            <a:ext cx="2743200" cy="1005840"/>
          </a:xfrm>
          <a:prstGeom prst="roundRect">
            <a:avLst/>
          </a:prstGeom>
          <a:solidFill>
            <a:srgbClr val="EAF8F6"/>
          </a:solidFill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0151E"/>
                </a:solidFill>
                <a:latin typeface="Calibri"/>
              </a:rPr>
              <a:t>Validate in code</a:t>
            </a:r>
          </a:p>
          <a:p>
            <a:pPr algn="ctr"/>
            <a:r>
              <a:rPr sz="950">
                <a:solidFill>
                  <a:srgbClr val="64748B"/>
                </a:solidFill>
                <a:latin typeface="Calibri"/>
              </a:rPr>
              <a:t>words · image · colour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37960" y="2880360"/>
            <a:ext cx="594360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78040" y="2377440"/>
            <a:ext cx="2194560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0151E"/>
                </a:solidFill>
                <a:latin typeface="Calibri"/>
              </a:rPr>
              <a:t>Repair (capped)</a:t>
            </a:r>
          </a:p>
          <a:p>
            <a:pPr algn="ctr"/>
            <a:r>
              <a:rPr sz="950">
                <a:solidFill>
                  <a:srgbClr val="64748B"/>
                </a:solidFill>
                <a:latin typeface="Calibri"/>
              </a:rPr>
              <a:t>rewrite offending block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75320" y="3383280"/>
            <a:ext cx="0" cy="50292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178040" y="3931920"/>
            <a:ext cx="2194560" cy="9144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0151E"/>
                </a:solidFill>
                <a:latin typeface="Calibri"/>
              </a:rPr>
              <a:t>Truncate</a:t>
            </a:r>
          </a:p>
          <a:p>
            <a:pPr algn="ctr"/>
            <a:r>
              <a:rPr sz="950">
                <a:solidFill>
                  <a:srgbClr val="64748B"/>
                </a:solidFill>
                <a:latin typeface="Calibri"/>
              </a:rPr>
              <a:t>sentence boundary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5120640" y="4389120"/>
            <a:ext cx="2048256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120640" y="3401568"/>
            <a:ext cx="0" cy="987552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601200" y="2377440"/>
            <a:ext cx="1737360" cy="1005840"/>
          </a:xfrm>
          <a:prstGeom prst="roundRect">
            <a:avLst/>
          </a:prstGeom>
          <a:solidFill>
            <a:srgbClr val="0B2E2A"/>
          </a:solidFill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valid JSON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72600" y="2880360"/>
            <a:ext cx="182880" cy="0"/>
          </a:xfrm>
          <a:prstGeom prst="line">
            <a:avLst/>
          </a:prstGeom>
          <a:ln w="22225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521208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Word/char limits, image placeholders and theme colours are ground-truth checks in a framework-free engine — fixed by a targeted loop, with graceful truncation as the floor.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SECURITY &amp;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FFFFFF"/>
                </a:solidFill>
                <a:latin typeface="Trebuchet MS"/>
              </a:rPr>
              <a:t>Secure by default, scales on its 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5074920" cy="310896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3317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80360"/>
            <a:ext cx="45720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Google ID-token auth + Cloud Run IAM (defense in depth)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Untrusted PDFs → injection hard gate (refuse, fail closed) + data-not-instructions channel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CMEK-encrypted storage · EU region (europe-west1) · least-privilege IAM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no tools / side-effects → tiny blast radius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103120"/>
            <a:ext cx="5074920" cy="310896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3317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80360"/>
            <a:ext cx="45720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Cloud Run autoscales 0 → N on concurrency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Pub/Sub absorbs upload bursts (queue + DLQ)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long/bursty jobs → ?async=true (off-path)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stateless → any instance serves any request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ceiling = Vertex quota, not compute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LIVE · END-TO-END ON GCP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FFFFFF"/>
                </a:solidFill>
                <a:latin typeface="Trebuchet MS"/>
              </a:rPr>
              <a:t>It runs — from the terminal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6492240" cy="2468880"/>
          </a:xfrm>
          <a:prstGeom prst="roundRect">
            <a:avLst/>
          </a:prstGeom>
          <a:solidFill>
            <a:srgbClr val="0A0E16"/>
          </a:solidFill>
          <a:ln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6217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$ curl -H "Authorization: Bearer $TOKEN" \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    -F role=sender -F files=@sender.pdf  $URL/companies/demo/documents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$ curl ... -F role=receiver -F files=@receiver.pdf  .../documents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$ curl -X POST $URL/generate -d '{"pair_id":"demo","prompt":"…"}'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    → 200  { template_id, blocks:[…], confidence, meta:{…} 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1965960"/>
            <a:ext cx="3794760" cy="658368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0FB5A6"/>
                </a:solidFill>
                <a:latin typeface="Calibri"/>
              </a:rPr>
              <a:t>gemini-2.5-pro</a:t>
            </a:r>
          </a:p>
          <a:p>
            <a:pPr algn="ctr"/>
            <a:r>
              <a:rPr sz="1150">
                <a:solidFill>
                  <a:srgbClr val="C7D0DE"/>
                </a:solidFill>
                <a:latin typeface="Calibri"/>
              </a:rPr>
              <a:t>writer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2715768"/>
            <a:ext cx="3794760" cy="658368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0FB5A6"/>
                </a:solidFill>
                <a:latin typeface="Calibri"/>
              </a:rPr>
              <a:t>$0.01</a:t>
            </a:r>
          </a:p>
          <a:p>
            <a:pPr algn="ctr"/>
            <a:r>
              <a:rPr sz="1150">
                <a:solidFill>
                  <a:srgbClr val="C7D0DE"/>
                </a:solidFill>
                <a:latin typeface="Calibri"/>
              </a:rPr>
              <a:t>per brochure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54880"/>
            <a:ext cx="6492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Output, grounded in the PDFs: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“Turn Vanguard's idle time into delivery time.”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DESIGN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Why these choices?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Pragmatism over shiny — the simplest thing that works, with the upgrade path named.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48840"/>
            <a:ext cx="10607040" cy="73152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5856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0151E"/>
                </a:solidFill>
                <a:latin typeface="Trebuchet MS"/>
              </a:rPr>
              <a:t>Deterministic typed pipeline — not an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56946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predictable, testable, traceable; ADK / Agent Engine only when we add tools or a HITL pause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971800"/>
            <a:ext cx="10607040" cy="73152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815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0151E"/>
                </a:solidFill>
                <a:latin typeface="Trebuchet MS"/>
              </a:rPr>
              <a:t>Long-context grounding — not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9242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a bounded two-company corpus fits in context — full traceability, no vector DB; RAG when it grows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794760"/>
            <a:ext cx="10607040" cy="73152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90448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0151E"/>
                </a:solidFill>
                <a:latin typeface="Trebuchet MS"/>
              </a:rPr>
              <a:t>Managed Gemini on Vertex — not self-hosted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1538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ship now at ~$0.01 / brochure with no GPUs to run; revisit fine-tuning only at real volume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617720"/>
            <a:ext cx="10607040" cy="73152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7274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0151E"/>
                </a:solidFill>
                <a:latin typeface="Trebuchet MS"/>
              </a:rPr>
              <a:t>Limits &amp; images enforced in code — not the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03834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the LLM is great at language, weak at counting/choosing — code owns word limits, image slots, JSON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440680"/>
            <a:ext cx="10607040" cy="73152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55040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0151E"/>
                </a:solidFill>
                <a:latin typeface="Trebuchet MS"/>
              </a:rPr>
              <a:t>Cloud Run — not GKE or Agent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86130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stateless + tool-less → scale-to-zero, a tiny blast radius and minimal 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ROADMAP &amp;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A working slice today — a clear path to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5212080" cy="18288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3317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0151E"/>
                </a:solidFill>
                <a:latin typeface="Trebuchet MS"/>
              </a:rPr>
              <a:t>Multi-tenancy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73405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75569"/>
                </a:solidFill>
                <a:latin typeface="Calibri"/>
              </a:rPr>
              <a:t>tenant from the token; per-tenant CMEK + budgets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44728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E0A23E"/>
                </a:solidFill>
                <a:latin typeface="Calibri"/>
              </a:rPr>
              <a:t>trade-off:  single-tenant ships now — keys already threaded, so it's config not a refactor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5212080" cy="18288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0151E"/>
                </a:solidFill>
                <a:latin typeface="Trebuchet MS"/>
              </a:rPr>
              <a:t>Org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3405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75569"/>
                </a:solidFill>
                <a:latin typeface="Calibri"/>
              </a:rPr>
              <a:t>every generation → BigQuery → Looker (cost, groundedness, throughput)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44728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E0A23E"/>
                </a:solidFill>
                <a:latin typeface="Calibri"/>
              </a:rPr>
              <a:t>trade-off:  the BigQuery export is built — only the Looker wiring is left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14800"/>
            <a:ext cx="5212080" cy="18288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76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0151E"/>
                </a:solidFill>
                <a:latin typeface="Trebuchet MS"/>
              </a:rPr>
              <a:t>Go agentic → Agent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7000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75569"/>
                </a:solidFill>
                <a:latin typeface="Calibri"/>
              </a:rPr>
              <a:t>tools (live research, image sourcing) or a HITL pause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41324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E0A23E"/>
                </a:solidFill>
                <a:latin typeface="Calibri"/>
              </a:rPr>
              <a:t>trade-off:  agents add cost + opacity — not until there are real tools to call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114800"/>
            <a:ext cx="5212080" cy="18288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2976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0151E"/>
                </a:solidFill>
                <a:latin typeface="Trebuchet MS"/>
              </a:rPr>
              <a:t>Harden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7000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75569"/>
                </a:solidFill>
                <a:latin typeface="Calibri"/>
              </a:rPr>
              <a:t>Model Armor injection filter · tune the judge · golden eval set in CI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541324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E0A23E"/>
                </a:solidFill>
                <a:latin typeface="Calibri"/>
              </a:rPr>
              <a:t>trade-off:  model calls use the global endpoint today — EU residency is the open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