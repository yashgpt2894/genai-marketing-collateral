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5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B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371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spc="260">
                <a:solidFill>
                  <a:srgbClr val="0FB5A6"/>
                </a:solidFill>
                <a:latin typeface="Consolas"/>
              </a:rPr>
              <a:t>ML6 · SENIOR AI ENGINEER · CASE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874519"/>
            <a:ext cx="10515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1">
                <a:solidFill>
                  <a:srgbClr val="FFFFFF"/>
                </a:solidFill>
                <a:latin typeface="Trebuchet MS"/>
              </a:rPr>
              <a:t>Automated Generative</a:t>
            </a:r>
          </a:p>
          <a:p>
            <a:pPr algn="l">
              <a:lnSpc>
                <a:spcPct val="102000"/>
              </a:lnSpc>
            </a:pPr>
            <a:r>
              <a:rPr sz="4600" b="1">
                <a:solidFill>
                  <a:srgbClr val="FFFFFF"/>
                </a:solidFill>
                <a:latin typeface="Trebuchet MS"/>
              </a:rPr>
              <a:t>Marketing Collateral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977639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C7D0DE"/>
                </a:solidFill>
                <a:latin typeface="Calibri"/>
              </a:rPr>
              <a:t>Company PDFs → on-brand, factually-grounded B2B articles, as structured JSON.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434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E8CA0"/>
                </a:solidFill>
                <a:latin typeface="Consolas"/>
              </a:rPr>
              <a:t>A deterministic, grounded LLM pipeline — deployed end-to-end on Google Cloud.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47395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B82"/>
                </a:solidFill>
                <a:latin typeface="Consolas"/>
              </a:rPr>
              <a:t>ML6 — Senior AI Engineer Challenge  ·  Case 2 · GenAI collateral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A6B82"/>
                </a:solidFill>
                <a:latin typeface="Consola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spc="260">
                <a:solidFill>
                  <a:srgbClr val="0FB5A6"/>
                </a:solidFill>
                <a:latin typeface="Consolas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86868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>
                <a:solidFill>
                  <a:srgbClr val="10151E"/>
                </a:solidFill>
                <a:latin typeface="Trebuchet MS"/>
              </a:rPr>
              <a:t>Editors hand-build every personalized brochure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286000"/>
            <a:ext cx="2468880" cy="137160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10151E"/>
                </a:solidFill>
                <a:latin typeface="Calibri"/>
              </a:rPr>
              <a:t>Research</a:t>
            </a:r>
          </a:p>
          <a:p>
            <a:pPr algn="ctr"/>
            <a:r>
              <a:rPr sz="1050">
                <a:solidFill>
                  <a:srgbClr val="64748B"/>
                </a:solidFill>
                <a:latin typeface="Calibri"/>
              </a:rPr>
              <a:t>read both companies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273552" y="2971800"/>
            <a:ext cx="237744" cy="0"/>
          </a:xfrm>
          <a:prstGeom prst="line">
            <a:avLst/>
          </a:prstGeom>
          <a:ln w="1905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3538728" y="2286000"/>
            <a:ext cx="2468880" cy="137160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10151E"/>
                </a:solidFill>
                <a:latin typeface="Calibri"/>
              </a:rPr>
              <a:t>Write</a:t>
            </a:r>
          </a:p>
          <a:p>
            <a:pPr algn="ctr"/>
            <a:r>
              <a:rPr sz="1050">
                <a:solidFill>
                  <a:srgbClr val="64748B"/>
                </a:solidFill>
                <a:latin typeface="Calibri"/>
              </a:rPr>
              <a:t>draft a bridging article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35040" y="2971800"/>
            <a:ext cx="237744" cy="0"/>
          </a:xfrm>
          <a:prstGeom prst="line">
            <a:avLst/>
          </a:prstGeom>
          <a:ln w="1905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300216" y="2286000"/>
            <a:ext cx="2468880" cy="137160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10151E"/>
                </a:solidFill>
                <a:latin typeface="Calibri"/>
              </a:rPr>
              <a:t>Gather assets</a:t>
            </a:r>
          </a:p>
          <a:p>
            <a:pPr algn="ctr"/>
            <a:r>
              <a:rPr sz="1050">
                <a:solidFill>
                  <a:srgbClr val="64748B"/>
                </a:solidFill>
                <a:latin typeface="Calibri"/>
              </a:rPr>
              <a:t>logos &amp; images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796528" y="2971800"/>
            <a:ext cx="237744" cy="0"/>
          </a:xfrm>
          <a:prstGeom prst="line">
            <a:avLst/>
          </a:prstGeom>
          <a:ln w="1905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9061704" y="2286000"/>
            <a:ext cx="2468880" cy="137160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10151E"/>
                </a:solidFill>
                <a:latin typeface="Calibri"/>
              </a:rPr>
              <a:t>Fight the template</a:t>
            </a:r>
          </a:p>
          <a:p>
            <a:pPr algn="ctr"/>
            <a:r>
              <a:rPr sz="1050">
                <a:solidFill>
                  <a:srgbClr val="64748B"/>
                </a:solidFill>
                <a:latin typeface="Calibri"/>
              </a:rPr>
              <a:t>fit columns, limits, colours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11480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475569"/>
                </a:solidFill>
                <a:latin typeface="Calibri"/>
              </a:rPr>
              <a:t>Slow, repetitive, at volume — hours of editor time per brochure.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475569"/>
                </a:solidFill>
                <a:latin typeface="Calibri"/>
              </a:rPr>
              <a:t>Automating research → layout turns that into seconds of compute at consistent, on-brand quality.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7395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onsolas"/>
              </a:rPr>
              <a:t>ML6 — Senior AI Engineer Challenge  ·  Case 2 · GenAI collateral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onsola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spc="260">
                <a:solidFill>
                  <a:srgbClr val="0FB5A6"/>
                </a:solidFill>
                <a:latin typeface="Consolas"/>
              </a:rPr>
              <a:t>THE SOLUTION · THE API IS THE 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86868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>
                <a:solidFill>
                  <a:srgbClr val="10151E"/>
                </a:solidFill>
                <a:latin typeface="Trebuchet MS"/>
              </a:rPr>
              <a:t>Two endpoints, one deterministic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B5A6"/>
                </a:solidFill>
                <a:latin typeface="Consolas"/>
              </a:rPr>
              <a:t>POST /companies/{pair}/documents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194560"/>
            <a:ext cx="2432304" cy="100584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>Upload PDFs</a:t>
            </a:r>
          </a:p>
          <a:p>
            <a:pPr algn="ctr"/>
            <a:r>
              <a:rPr sz="850">
                <a:solidFill>
                  <a:srgbClr val="64748B"/>
                </a:solidFill>
                <a:latin typeface="Calibri"/>
              </a:rPr>
              <a:t>sender + receiver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227832" y="2697480"/>
            <a:ext cx="237744" cy="0"/>
          </a:xfrm>
          <a:prstGeom prst="line">
            <a:avLst/>
          </a:prstGeom>
          <a:ln w="1778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483864" y="2194560"/>
            <a:ext cx="2432304" cy="100584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>Parse (async)</a:t>
            </a:r>
          </a:p>
          <a:p>
            <a:pPr algn="ctr"/>
            <a:r>
              <a:rPr sz="850">
                <a:solidFill>
                  <a:srgbClr val="64748B"/>
                </a:solidFill>
                <a:latin typeface="Calibri"/>
              </a:rPr>
              <a:t>Pub/Sub → worker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934456" y="2697480"/>
            <a:ext cx="237744" cy="0"/>
          </a:xfrm>
          <a:prstGeom prst="line">
            <a:avLst/>
          </a:prstGeom>
          <a:ln w="1778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190488" y="2194560"/>
            <a:ext cx="2432304" cy="100584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>CompanyBrief</a:t>
            </a:r>
          </a:p>
          <a:p>
            <a:pPr algn="ctr"/>
            <a:r>
              <a:rPr sz="850">
                <a:solidFill>
                  <a:srgbClr val="64748B"/>
                </a:solidFill>
                <a:latin typeface="Calibri"/>
              </a:rPr>
              <a:t>source-tagged facts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641080" y="2697480"/>
            <a:ext cx="237744" cy="0"/>
          </a:xfrm>
          <a:prstGeom prst="line">
            <a:avLst/>
          </a:prstGeom>
          <a:ln w="1778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897112" y="2194560"/>
            <a:ext cx="2432304" cy="100584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>Store</a:t>
            </a:r>
          </a:p>
          <a:p>
            <a:pPr algn="ctr"/>
            <a:r>
              <a:rPr sz="850">
                <a:solidFill>
                  <a:srgbClr val="64748B"/>
                </a:solidFill>
                <a:latin typeface="Calibri"/>
              </a:rPr>
              <a:t>Firestore + GCS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6118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B5A6"/>
                </a:solidFill>
                <a:latin typeface="Consolas"/>
              </a:rPr>
              <a:t>POST /generate  →  202 + job_id  (poll)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931920"/>
            <a:ext cx="2432304" cy="100584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>Assemble</a:t>
            </a:r>
          </a:p>
          <a:p>
            <a:pPr algn="ctr"/>
            <a:r>
              <a:rPr sz="850">
                <a:solidFill>
                  <a:srgbClr val="64748B"/>
                </a:solidFill>
                <a:latin typeface="Calibri"/>
              </a:rPr>
              <a:t>grounded context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227832" y="4434840"/>
            <a:ext cx="237744" cy="0"/>
          </a:xfrm>
          <a:prstGeom prst="line">
            <a:avLst/>
          </a:prstGeom>
          <a:ln w="1778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483864" y="3931920"/>
            <a:ext cx="2432304" cy="100584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>Draft</a:t>
            </a:r>
          </a:p>
          <a:p>
            <a:pPr algn="ctr"/>
            <a:r>
              <a:rPr sz="850">
                <a:solidFill>
                  <a:srgbClr val="64748B"/>
                </a:solidFill>
                <a:latin typeface="Calibri"/>
              </a:rPr>
              <a:t>cited, Gemini Pro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934456" y="4434840"/>
            <a:ext cx="237744" cy="0"/>
          </a:xfrm>
          <a:prstGeom prst="line">
            <a:avLst/>
          </a:prstGeom>
          <a:ln w="1778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190488" y="3931920"/>
            <a:ext cx="2432304" cy="100584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>Map + validate</a:t>
            </a:r>
          </a:p>
          <a:p>
            <a:pPr algn="ctr"/>
            <a:r>
              <a:rPr sz="850">
                <a:solidFill>
                  <a:srgbClr val="64748B"/>
                </a:solidFill>
                <a:latin typeface="Calibri"/>
              </a:rPr>
              <a:t>limits in code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641080" y="4434840"/>
            <a:ext cx="237744" cy="0"/>
          </a:xfrm>
          <a:prstGeom prst="line">
            <a:avLst/>
          </a:prstGeom>
          <a:ln w="1778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897112" y="3931920"/>
            <a:ext cx="2432304" cy="100584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>ArticleJSON</a:t>
            </a:r>
          </a:p>
          <a:p>
            <a:pPr algn="ctr"/>
            <a:r>
              <a:rPr sz="850">
                <a:solidFill>
                  <a:srgbClr val="64748B"/>
                </a:solidFill>
                <a:latin typeface="Calibri"/>
              </a:rPr>
              <a:t>+ cost, confidence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5349240"/>
            <a:ext cx="2743200" cy="310896"/>
          </a:xfrm>
          <a:prstGeom prst="roundRect">
            <a:avLst/>
          </a:prstGeom>
          <a:noFill/>
          <a:ln w="12700">
            <a:solidFill>
              <a:srgbClr val="0FB5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>
                <a:solidFill>
                  <a:srgbClr val="0FB5A6"/>
                </a:solidFill>
                <a:latin typeface="Consolas"/>
              </a:rPr>
              <a:t>auth: Bearer ID token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5349240"/>
            <a:ext cx="3108960" cy="310896"/>
          </a:xfrm>
          <a:prstGeom prst="roundRect">
            <a:avLst/>
          </a:prstGeom>
          <a:noFill/>
          <a:ln w="12700">
            <a:solidFill>
              <a:srgbClr val="0FB5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>
                <a:solidFill>
                  <a:srgbClr val="0FB5A6"/>
                </a:solidFill>
                <a:latin typeface="Consolas"/>
              </a:rPr>
              <a:t>structured JSON, schema-valid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03720" y="5349240"/>
            <a:ext cx="3200400" cy="310896"/>
          </a:xfrm>
          <a:prstGeom prst="roundRect">
            <a:avLst/>
          </a:prstGeom>
          <a:noFill/>
          <a:ln w="12700">
            <a:solidFill>
              <a:srgbClr val="0FB5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>
                <a:solidFill>
                  <a:srgbClr val="0FB5A6"/>
                </a:solidFill>
                <a:latin typeface="Consolas"/>
              </a:rPr>
              <a:t>every word limit enforced in code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47395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onsolas"/>
              </a:rPr>
              <a:t>ML6 — Senior AI Engineer Challenge  ·  Case 2 · GenAI collateral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onsola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5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B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spc="260">
                <a:solidFill>
                  <a:srgbClr val="0FB5A6"/>
                </a:solidFill>
                <a:latin typeface="Consolas"/>
              </a:rPr>
              <a:t>ORCHESTRATION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6868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>
                <a:solidFill>
                  <a:srgbClr val="FFFFFF"/>
                </a:solidFill>
                <a:latin typeface="Trebuchet MS"/>
              </a:rPr>
              <a:t>Contextual retrieval → LLM interaction → layout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103120"/>
            <a:ext cx="3383280" cy="2743200"/>
          </a:xfrm>
          <a:prstGeom prst="roundRect">
            <a:avLst/>
          </a:prstGeom>
          <a:solidFill>
            <a:srgbClr val="1B2230"/>
          </a:solidFill>
          <a:ln w="12700">
            <a:solidFill>
              <a:srgbClr val="2C36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3317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B5A6"/>
                </a:solidFill>
                <a:latin typeface="Consolas"/>
              </a:rPr>
              <a:t>1 · CONTEXTUAL RETRIEVAL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71800"/>
            <a:ext cx="29260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C7D0DE"/>
                </a:solidFill>
                <a:latin typeface="Calibri"/>
              </a:rPr>
              <a:t>•  PDFs → distilled briefs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C7D0DE"/>
                </a:solidFill>
                <a:latin typeface="Calibri"/>
              </a:rPr>
              <a:t>•  source-tagged facts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C7D0DE"/>
                </a:solidFill>
                <a:latin typeface="Calibri"/>
              </a:rPr>
              <a:t>•  long-context (no RAG yet)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206240" y="3474720"/>
            <a:ext cx="320040" cy="0"/>
          </a:xfrm>
          <a:prstGeom prst="line">
            <a:avLst/>
          </a:prstGeom>
          <a:ln w="25400">
            <a:solidFill>
              <a:srgbClr val="0FB5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572000" y="2103120"/>
            <a:ext cx="3383280" cy="2743200"/>
          </a:xfrm>
          <a:prstGeom prst="roundRect">
            <a:avLst/>
          </a:prstGeom>
          <a:solidFill>
            <a:srgbClr val="1B2230"/>
          </a:solidFill>
          <a:ln w="12700">
            <a:solidFill>
              <a:srgbClr val="2C36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23317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B5A6"/>
                </a:solidFill>
                <a:latin typeface="Consolas"/>
              </a:rPr>
              <a:t>2 · LLM INTERACTION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2971800"/>
            <a:ext cx="29260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C7D0DE"/>
                </a:solidFill>
                <a:latin typeface="Calibri"/>
              </a:rPr>
              <a:t>•  draft — Gemini 2.5 Pro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C7D0DE"/>
                </a:solidFill>
                <a:latin typeface="Calibri"/>
              </a:rPr>
              <a:t>•  grounded, inline citations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C7D0DE"/>
                </a:solidFill>
                <a:latin typeface="Calibri"/>
              </a:rPr>
              <a:t>•  verify — 2.5 Flash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001000" y="3474720"/>
            <a:ext cx="320039" cy="0"/>
          </a:xfrm>
          <a:prstGeom prst="line">
            <a:avLst/>
          </a:prstGeom>
          <a:ln w="25400">
            <a:solidFill>
              <a:srgbClr val="0FB5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366760" y="2103120"/>
            <a:ext cx="3383280" cy="2743200"/>
          </a:xfrm>
          <a:prstGeom prst="roundRect">
            <a:avLst/>
          </a:prstGeom>
          <a:solidFill>
            <a:srgbClr val="1B2230"/>
          </a:solidFill>
          <a:ln w="12700">
            <a:solidFill>
              <a:srgbClr val="2C36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23317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B5A6"/>
                </a:solidFill>
                <a:latin typeface="Consolas"/>
              </a:rPr>
              <a:t>3 · LAYOUT / FORMATTING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2971800"/>
            <a:ext cx="29260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C7D0DE"/>
                </a:solidFill>
                <a:latin typeface="Calibri"/>
              </a:rPr>
              <a:t>•  map to template blocks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C7D0DE"/>
                </a:solidFill>
                <a:latin typeface="Calibri"/>
              </a:rPr>
              <a:t>•  validate limits in code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C7D0DE"/>
                </a:solidFill>
                <a:latin typeface="Calibri"/>
              </a:rPr>
              <a:t>•  repair loop → JSON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1206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7E8CA0"/>
                </a:solidFill>
                <a:latin typeface="Consolas"/>
              </a:rPr>
              <a:t>A fixed DAG — deterministic, typed, traceable. Not an open-ended agent.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47395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B82"/>
                </a:solidFill>
                <a:latin typeface="Consolas"/>
              </a:rPr>
              <a:t>ML6 — Senior AI Engineer Challenge  ·  Case 2 · GenAI collateral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A6B82"/>
                </a:solidFill>
                <a:latin typeface="Consola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5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B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spc="260">
                <a:solidFill>
                  <a:srgbClr val="0FB5A6"/>
                </a:solidFill>
                <a:latin typeface="Consolas"/>
              </a:rPr>
              <a:t>ARCHITECTURE · GOOGLE CLOUD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6868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>
                <a:solidFill>
                  <a:srgbClr val="FFFFFF"/>
                </a:solidFill>
                <a:latin typeface="Trebuchet MS"/>
              </a:rPr>
              <a:t>Managed, stateless, scales to zero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65960"/>
            <a:ext cx="2286000" cy="731520"/>
          </a:xfrm>
          <a:prstGeom prst="roundRect">
            <a:avLst/>
          </a:prstGeom>
          <a:solidFill>
            <a:srgbClr val="1B2230"/>
          </a:solidFill>
          <a:ln w="12700">
            <a:solidFill>
              <a:srgbClr val="2C36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Client / curl</a:t>
            </a:r>
          </a:p>
          <a:p>
            <a:pPr algn="ctr"/>
            <a:r>
              <a:rPr sz="850">
                <a:solidFill>
                  <a:srgbClr val="C7D0DE"/>
                </a:solidFill>
                <a:latin typeface="Calibri"/>
              </a:rPr>
              <a:t>Bearer ID token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0" y="1965960"/>
            <a:ext cx="4754880" cy="731520"/>
          </a:xfrm>
          <a:prstGeom prst="roundRect">
            <a:avLst/>
          </a:prstGeom>
          <a:solidFill>
            <a:srgbClr val="0B2E2A"/>
          </a:solidFill>
          <a:ln w="12700">
            <a:solidFill>
              <a:srgbClr val="0FB5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Cloud Run · API (FastAPI)</a:t>
            </a:r>
          </a:p>
          <a:p>
            <a:pPr algn="ctr"/>
            <a:r>
              <a:rPr sz="950">
                <a:solidFill>
                  <a:srgbClr val="C7D0DE"/>
                </a:solidFill>
                <a:latin typeface="Calibri"/>
              </a:rPr>
              <a:t>auth · stateless · scale-to-zero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08960" y="2331720"/>
            <a:ext cx="502920" cy="0"/>
          </a:xfrm>
          <a:prstGeom prst="line">
            <a:avLst/>
          </a:prstGeom>
          <a:ln w="22225">
            <a:solidFill>
              <a:srgbClr val="0FB5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657600" y="3108960"/>
            <a:ext cx="4754880" cy="777240"/>
          </a:xfrm>
          <a:prstGeom prst="roundRect">
            <a:avLst/>
          </a:prstGeom>
          <a:solidFill>
            <a:srgbClr val="1B2230"/>
          </a:solidFill>
          <a:ln w="12700">
            <a:solidFill>
              <a:srgbClr val="2C36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Pub/Sub → parse worker</a:t>
            </a:r>
          </a:p>
          <a:p>
            <a:pPr algn="ctr"/>
            <a:r>
              <a:rPr sz="850">
                <a:solidFill>
                  <a:srgbClr val="C7D0DE"/>
                </a:solidFill>
                <a:latin typeface="Calibri"/>
              </a:rPr>
              <a:t>Document AI + Gemini 2.5 Flash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35040" y="2697480"/>
            <a:ext cx="0" cy="393192"/>
          </a:xfrm>
          <a:prstGeom prst="line">
            <a:avLst/>
          </a:prstGeom>
          <a:ln w="22225">
            <a:solidFill>
              <a:srgbClr val="0FB5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869680" y="1965960"/>
            <a:ext cx="2560320" cy="777240"/>
          </a:xfrm>
          <a:prstGeom prst="roundRect">
            <a:avLst/>
          </a:prstGeom>
          <a:solidFill>
            <a:srgbClr val="1B2230"/>
          </a:solidFill>
          <a:ln w="12700">
            <a:solidFill>
              <a:srgbClr val="2C36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Vertex AI</a:t>
            </a:r>
          </a:p>
          <a:p>
            <a:pPr algn="ctr"/>
            <a:r>
              <a:rPr sz="850">
                <a:solidFill>
                  <a:srgbClr val="C7D0DE"/>
                </a:solidFill>
                <a:latin typeface="Calibri"/>
              </a:rPr>
              <a:t>Gemini 2.5 Pro / Flash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412480" y="2331720"/>
            <a:ext cx="411480" cy="0"/>
          </a:xfrm>
          <a:prstGeom prst="line">
            <a:avLst/>
          </a:prstGeom>
          <a:ln w="22225">
            <a:solidFill>
              <a:srgbClr val="0FB5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657600" y="4297680"/>
            <a:ext cx="2286000" cy="777240"/>
          </a:xfrm>
          <a:prstGeom prst="roundRect">
            <a:avLst/>
          </a:prstGeom>
          <a:solidFill>
            <a:srgbClr val="1B2230"/>
          </a:solidFill>
          <a:ln w="12700">
            <a:solidFill>
              <a:srgbClr val="2C36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Firestore</a:t>
            </a:r>
          </a:p>
          <a:p>
            <a:pPr algn="ctr"/>
            <a:r>
              <a:rPr sz="850">
                <a:solidFill>
                  <a:srgbClr val="C7D0DE"/>
                </a:solidFill>
                <a:latin typeface="Calibri"/>
              </a:rPr>
              <a:t>briefs · jobs · outputs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4297680"/>
            <a:ext cx="2286000" cy="777240"/>
          </a:xfrm>
          <a:prstGeom prst="roundRect">
            <a:avLst/>
          </a:prstGeom>
          <a:solidFill>
            <a:srgbClr val="1B2230"/>
          </a:solidFill>
          <a:ln w="12700">
            <a:solidFill>
              <a:srgbClr val="2C36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Cloud Storage</a:t>
            </a:r>
          </a:p>
          <a:p>
            <a:pPr algn="ctr"/>
            <a:r>
              <a:rPr sz="850">
                <a:solidFill>
                  <a:srgbClr val="C7D0DE"/>
                </a:solidFill>
                <a:latin typeface="Calibri"/>
              </a:rPr>
              <a:t>PDFs · assets · CMEK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4846320" y="3886200"/>
            <a:ext cx="640080" cy="393192"/>
          </a:xfrm>
          <a:prstGeom prst="line">
            <a:avLst/>
          </a:prstGeom>
          <a:ln w="1778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583680" y="3886200"/>
            <a:ext cx="640080" cy="393192"/>
          </a:xfrm>
          <a:prstGeom prst="line">
            <a:avLst/>
          </a:prstGeom>
          <a:ln w="1778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77240" y="5440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7E8CA0"/>
                </a:solidFill>
                <a:latin typeface="Consolas"/>
              </a:rPr>
              <a:t>Cross-cutting:  Google ID-token auth + IAM   ·   Model Armor   ·   per-tenant CMEK   ·   EU residency   ·   Pub/Sub DLQ   ·   Terraform (infra/)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47395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B82"/>
                </a:solidFill>
                <a:latin typeface="Consolas"/>
              </a:rPr>
              <a:t>ML6 — Senior AI Engineer Challenge  ·  Case 2 · GenAI collateral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A6B82"/>
                </a:solidFill>
                <a:latin typeface="Consola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spc="260">
                <a:solidFill>
                  <a:srgbClr val="0FB5A6"/>
                </a:solidFill>
                <a:latin typeface="Consolas"/>
              </a:rPr>
              <a:t>THE CRUX · FACTUAL CORRECTNESS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86868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>
                <a:solidFill>
                  <a:srgbClr val="10151E"/>
                </a:solidFill>
                <a:latin typeface="Trebuchet MS"/>
              </a:rPr>
              <a:t>Grounded, cited, verified — and honest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286000"/>
            <a:ext cx="2468880" cy="137160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10151E"/>
                </a:solidFill>
                <a:latin typeface="Calibri"/>
              </a:rPr>
              <a:t>Briefs only</a:t>
            </a:r>
          </a:p>
          <a:p>
            <a:pPr algn="ctr"/>
            <a:r>
              <a:rPr sz="1050">
                <a:solidFill>
                  <a:srgbClr val="475569"/>
                </a:solidFill>
                <a:latin typeface="Calibri"/>
              </a:rPr>
              <a:t>distilled facts,
never raw PDF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273552" y="2971800"/>
            <a:ext cx="237744" cy="0"/>
          </a:xfrm>
          <a:prstGeom prst="line">
            <a:avLst/>
          </a:prstGeom>
          <a:ln w="1778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3538728" y="2286000"/>
            <a:ext cx="2468880" cy="137160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10151E"/>
                </a:solidFill>
                <a:latin typeface="Calibri"/>
              </a:rPr>
              <a:t>Inline citations</a:t>
            </a:r>
          </a:p>
          <a:p>
            <a:pPr algn="ctr"/>
            <a:r>
              <a:rPr sz="1050">
                <a:solidFill>
                  <a:srgbClr val="475569"/>
                </a:solidFill>
                <a:latin typeface="Calibri"/>
              </a:rPr>
              <a:t>every claim →
a brief fact-id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35040" y="2971800"/>
            <a:ext cx="237744" cy="0"/>
          </a:xfrm>
          <a:prstGeom prst="line">
            <a:avLst/>
          </a:prstGeom>
          <a:ln w="1778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300216" y="2286000"/>
            <a:ext cx="2468880" cy="137160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10151E"/>
                </a:solidFill>
                <a:latin typeface="Calibri"/>
              </a:rPr>
              <a:t>Verify</a:t>
            </a:r>
          </a:p>
          <a:p>
            <a:pPr algn="ctr"/>
            <a:r>
              <a:rPr sz="1050">
                <a:solidFill>
                  <a:srgbClr val="475569"/>
                </a:solidFill>
                <a:latin typeface="Calibri"/>
              </a:rPr>
              <a:t>claim-level check,
flag unsupported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796528" y="2971800"/>
            <a:ext cx="237744" cy="0"/>
          </a:xfrm>
          <a:prstGeom prst="line">
            <a:avLst/>
          </a:prstGeom>
          <a:ln w="1778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9061704" y="2286000"/>
            <a:ext cx="2468880" cy="137160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10151E"/>
                </a:solidFill>
                <a:latin typeface="Calibri"/>
              </a:rPr>
              <a:t>Human review</a:t>
            </a:r>
          </a:p>
          <a:p>
            <a:pPr algn="ctr"/>
            <a:r>
              <a:rPr sz="1050">
                <a:solidFill>
                  <a:srgbClr val="475569"/>
                </a:solidFill>
                <a:latin typeface="Calibri"/>
              </a:rPr>
              <a:t>reviewable draft;
never auto-publish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16052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475569"/>
                </a:solidFill>
                <a:latin typeface="Calibri"/>
              </a:rPr>
              <a:t>Grounding reduces hallucination — it doesn't eliminate it. So citations stay, and a human approves before anything is mailed.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5029200"/>
            <a:ext cx="4206240" cy="310896"/>
          </a:xfrm>
          <a:prstGeom prst="roundRect">
            <a:avLst/>
          </a:prstGeom>
          <a:noFill/>
          <a:ln w="12700">
            <a:solidFill>
              <a:srgbClr val="0FB5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>
                <a:solidFill>
                  <a:srgbClr val="0FB5A6"/>
                </a:solidFill>
                <a:latin typeface="Consolas"/>
              </a:rPr>
              <a:t>live run: 100% grounded · 5/5 within limits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47395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onsolas"/>
              </a:rPr>
              <a:t>ML6 — Senior AI Engineer Challenge  ·  Case 2 · GenAI collateral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onsola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spc="260">
                <a:solidFill>
                  <a:srgbClr val="0FB5A6"/>
                </a:solidFill>
                <a:latin typeface="Consolas"/>
              </a:rPr>
              <a:t>LAYOUT = HARD LIMITS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86868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>
                <a:solidFill>
                  <a:srgbClr val="10151E"/>
                </a:solidFill>
                <a:latin typeface="Trebuchet MS"/>
              </a:rPr>
              <a:t>Don't trust the model to count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377440"/>
            <a:ext cx="2286000" cy="100584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10151E"/>
                </a:solidFill>
                <a:latin typeface="Calibri"/>
              </a:rPr>
              <a:t>Draft block</a:t>
            </a:r>
          </a:p>
          <a:p>
            <a:pPr algn="ctr"/>
            <a:r>
              <a:rPr sz="950">
                <a:solidFill>
                  <a:srgbClr val="64748B"/>
                </a:solidFill>
                <a:latin typeface="Calibri"/>
              </a:rPr>
              <a:t>controlled generation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108960" y="2880360"/>
            <a:ext cx="594360" cy="0"/>
          </a:xfrm>
          <a:prstGeom prst="line">
            <a:avLst/>
          </a:prstGeom>
          <a:ln w="1778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3749039" y="2377440"/>
            <a:ext cx="2743200" cy="1005840"/>
          </a:xfrm>
          <a:prstGeom prst="roundRect">
            <a:avLst/>
          </a:prstGeom>
          <a:solidFill>
            <a:srgbClr val="EAF8F6"/>
          </a:solidFill>
          <a:ln w="12700">
            <a:solidFill>
              <a:srgbClr val="0FB5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10151E"/>
                </a:solidFill>
                <a:latin typeface="Calibri"/>
              </a:rPr>
              <a:t>Validate in code</a:t>
            </a:r>
          </a:p>
          <a:p>
            <a:pPr algn="ctr"/>
            <a:r>
              <a:rPr sz="950">
                <a:solidFill>
                  <a:srgbClr val="64748B"/>
                </a:solidFill>
                <a:latin typeface="Calibri"/>
              </a:rPr>
              <a:t>words · image · colour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537960" y="2880360"/>
            <a:ext cx="594360" cy="0"/>
          </a:xfrm>
          <a:prstGeom prst="line">
            <a:avLst/>
          </a:prstGeom>
          <a:ln w="1778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178040" y="2377440"/>
            <a:ext cx="2194560" cy="100584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10151E"/>
                </a:solidFill>
                <a:latin typeface="Calibri"/>
              </a:rPr>
              <a:t>Repair (capped)</a:t>
            </a:r>
          </a:p>
          <a:p>
            <a:pPr algn="ctr"/>
            <a:r>
              <a:rPr sz="950">
                <a:solidFill>
                  <a:srgbClr val="64748B"/>
                </a:solidFill>
                <a:latin typeface="Calibri"/>
              </a:rPr>
              <a:t>rewrite offending block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275320" y="3383280"/>
            <a:ext cx="0" cy="502920"/>
          </a:xfrm>
          <a:prstGeom prst="line">
            <a:avLst/>
          </a:prstGeom>
          <a:ln w="1778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178040" y="3931920"/>
            <a:ext cx="2194560" cy="91440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10151E"/>
                </a:solidFill>
                <a:latin typeface="Calibri"/>
              </a:rPr>
              <a:t>Truncate</a:t>
            </a:r>
          </a:p>
          <a:p>
            <a:pPr algn="ctr"/>
            <a:r>
              <a:rPr sz="950">
                <a:solidFill>
                  <a:srgbClr val="64748B"/>
                </a:solidFill>
                <a:latin typeface="Calibri"/>
              </a:rPr>
              <a:t>sentence boundary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5120640" y="4389120"/>
            <a:ext cx="2048256" cy="0"/>
          </a:xfrm>
          <a:prstGeom prst="line">
            <a:avLst/>
          </a:prstGeom>
          <a:ln w="1778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5120640" y="3401568"/>
            <a:ext cx="0" cy="987552"/>
          </a:xfrm>
          <a:prstGeom prst="line">
            <a:avLst/>
          </a:prstGeom>
          <a:ln w="1778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601200" y="2377440"/>
            <a:ext cx="1737360" cy="1005840"/>
          </a:xfrm>
          <a:prstGeom prst="roundRect">
            <a:avLst/>
          </a:prstGeom>
          <a:solidFill>
            <a:srgbClr val="0B2E2A"/>
          </a:solidFill>
          <a:ln w="12700">
            <a:solidFill>
              <a:srgbClr val="0FB5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valid JSON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372600" y="2880360"/>
            <a:ext cx="182880" cy="0"/>
          </a:xfrm>
          <a:prstGeom prst="line">
            <a:avLst/>
          </a:prstGeom>
          <a:ln w="22225">
            <a:solidFill>
              <a:srgbClr val="0FB5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77240" y="521208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Word/char limits, image placeholders and theme colours are ground-truth checks in a framework-free engine — fixed by a targeted loop, with graceful truncation as the floor.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47395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onsolas"/>
              </a:rPr>
              <a:t>ML6 — Senior AI Engineer Challenge  ·  Case 2 · GenAI collateral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onsola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5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B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spc="260">
                <a:solidFill>
                  <a:srgbClr val="0FB5A6"/>
                </a:solidFill>
                <a:latin typeface="Consolas"/>
              </a:rPr>
              <a:t>SECURITY &amp;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6868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>
                <a:solidFill>
                  <a:srgbClr val="FFFFFF"/>
                </a:solidFill>
                <a:latin typeface="Trebuchet MS"/>
              </a:rPr>
              <a:t>Secure by default, scales on its own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103120"/>
            <a:ext cx="5074920" cy="3108960"/>
          </a:xfrm>
          <a:prstGeom prst="roundRect">
            <a:avLst/>
          </a:prstGeom>
          <a:solidFill>
            <a:srgbClr val="1B2230"/>
          </a:solidFill>
          <a:ln w="12700">
            <a:solidFill>
              <a:srgbClr val="2C36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33172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B5A6"/>
                </a:solidFill>
                <a:latin typeface="Consolas"/>
              </a:rPr>
              <a:t>SECURITY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880360"/>
            <a:ext cx="457200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C7D0DE"/>
                </a:solidFill>
                <a:latin typeface="Calibri"/>
              </a:rPr>
              <a:t>•  Google ID-token auth + Cloud Run IAM (defense in depth)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C7D0DE"/>
                </a:solidFill>
                <a:latin typeface="Calibri"/>
              </a:rPr>
              <a:t>•  PDFs are untrusted DATA — injection guard + Model Armor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C7D0DE"/>
                </a:solidFill>
                <a:latin typeface="Calibri"/>
              </a:rPr>
              <a:t>•  per-tenant CMEK · EU residency · VPC-SC · Secret Manager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C7D0DE"/>
                </a:solidFill>
                <a:latin typeface="Calibri"/>
              </a:rPr>
              <a:t>•  no tools / side-effects → tiny blast radius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5080" y="2103120"/>
            <a:ext cx="5074920" cy="3108960"/>
          </a:xfrm>
          <a:prstGeom prst="roundRect">
            <a:avLst/>
          </a:prstGeom>
          <a:solidFill>
            <a:srgbClr val="1B2230"/>
          </a:solidFill>
          <a:ln w="12700">
            <a:solidFill>
              <a:srgbClr val="2C36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233172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B5A6"/>
                </a:solidFill>
                <a:latin typeface="Consolas"/>
              </a:rPr>
              <a:t>SCALE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880360"/>
            <a:ext cx="457200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C7D0DE"/>
                </a:solidFill>
                <a:latin typeface="Calibri"/>
              </a:rPr>
              <a:t>•  Cloud Run autoscales 0 → N on concurrency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C7D0DE"/>
                </a:solidFill>
                <a:latin typeface="Calibri"/>
              </a:rPr>
              <a:t>•  Pub/Sub absorbs upload bursts (queue + DLQ)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C7D0DE"/>
                </a:solidFill>
                <a:latin typeface="Calibri"/>
              </a:rPr>
              <a:t>•  /generate returns 202 — never blocks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C7D0DE"/>
                </a:solidFill>
                <a:latin typeface="Calibri"/>
              </a:rPr>
              <a:t>•  stateless → any instance serves any request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C7D0DE"/>
                </a:solidFill>
                <a:latin typeface="Calibri"/>
              </a:rPr>
              <a:t>•  ceiling = Vertex quota, not compute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47395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B82"/>
                </a:solidFill>
                <a:latin typeface="Consolas"/>
              </a:rPr>
              <a:t>ML6 — Senior AI Engineer Challenge  ·  Case 2 · GenAI collateral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A6B82"/>
                </a:solidFill>
                <a:latin typeface="Consola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5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B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spc="260">
                <a:solidFill>
                  <a:srgbClr val="0FB5A6"/>
                </a:solidFill>
                <a:latin typeface="Consolas"/>
              </a:rPr>
              <a:t>LIVE · END-TO-END ON GCP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6868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>
                <a:solidFill>
                  <a:srgbClr val="FFFFFF"/>
                </a:solidFill>
                <a:latin typeface="Trebuchet MS"/>
              </a:rPr>
              <a:t>It runs — from the terminal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65960"/>
            <a:ext cx="6492240" cy="2468880"/>
          </a:xfrm>
          <a:prstGeom prst="roundRect">
            <a:avLst/>
          </a:prstGeom>
          <a:solidFill>
            <a:srgbClr val="0A0E16"/>
          </a:solidFill>
          <a:ln>
            <a:solidFill>
              <a:srgbClr val="2C36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48840"/>
            <a:ext cx="62179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9FE8DF"/>
                </a:solidFill>
                <a:latin typeface="Consolas"/>
              </a:rPr>
              <a:t>$ curl -H "Authorization: Bearer $TOKEN" \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9FE8DF"/>
                </a:solidFill>
                <a:latin typeface="Consolas"/>
              </a:rPr>
              <a:t>    -F role=sender -F files=@sender.pdf  $URL/companies/demo/documents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9FE8DF"/>
                </a:solidFill>
                <a:latin typeface="Consolas"/>
              </a:rPr>
              <a:t>$ curl ... -F role=receiver -F files=@receiver.pdf  .../documents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9FE8DF"/>
                </a:solidFill>
                <a:latin typeface="Consolas"/>
              </a:rPr>
              <a:t>$ curl -X POST $URL/generate -d '{"pair_id":"demo","prompt":"…"}'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9FE8DF"/>
                </a:solidFill>
                <a:latin typeface="Consolas"/>
              </a:rPr>
              <a:t>    → 202  {"job_id":"…"}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9FE8DF"/>
                </a:solidFill>
                <a:latin typeface="Consolas"/>
              </a:rPr>
              <a:t>$ curl $URL/generate/demo/&lt;job_id&gt;   → { status: done, result: {…} 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35240" y="1965960"/>
            <a:ext cx="3794760" cy="658368"/>
          </a:xfrm>
          <a:prstGeom prst="roundRect">
            <a:avLst/>
          </a:prstGeom>
          <a:solidFill>
            <a:srgbClr val="1B2230"/>
          </a:solidFill>
          <a:ln w="12700">
            <a:solidFill>
              <a:srgbClr val="2C36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0FB5A6"/>
                </a:solidFill>
                <a:latin typeface="Calibri"/>
              </a:rPr>
              <a:t>gemini-2.5-pro</a:t>
            </a:r>
          </a:p>
          <a:p>
            <a:pPr algn="ctr"/>
            <a:r>
              <a:rPr sz="1150">
                <a:solidFill>
                  <a:srgbClr val="C7D0DE"/>
                </a:solidFill>
                <a:latin typeface="Calibri"/>
              </a:rPr>
              <a:t>writer 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35240" y="2715768"/>
            <a:ext cx="3794760" cy="658368"/>
          </a:xfrm>
          <a:prstGeom prst="roundRect">
            <a:avLst/>
          </a:prstGeom>
          <a:solidFill>
            <a:srgbClr val="1B2230"/>
          </a:solidFill>
          <a:ln w="12700">
            <a:solidFill>
              <a:srgbClr val="2C36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0FB5A6"/>
                </a:solidFill>
                <a:latin typeface="Calibri"/>
              </a:rPr>
              <a:t>$0.01</a:t>
            </a:r>
          </a:p>
          <a:p>
            <a:pPr algn="ctr"/>
            <a:r>
              <a:rPr sz="1150">
                <a:solidFill>
                  <a:srgbClr val="C7D0DE"/>
                </a:solidFill>
                <a:latin typeface="Calibri"/>
              </a:rPr>
              <a:t>per brochure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35240" y="3465575"/>
            <a:ext cx="3794760" cy="658368"/>
          </a:xfrm>
          <a:prstGeom prst="roundRect">
            <a:avLst/>
          </a:prstGeom>
          <a:solidFill>
            <a:srgbClr val="1B2230"/>
          </a:solidFill>
          <a:ln w="12700">
            <a:solidFill>
              <a:srgbClr val="2C36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0FB5A6"/>
                </a:solidFill>
                <a:latin typeface="Calibri"/>
              </a:rPr>
              <a:t>100%</a:t>
            </a:r>
          </a:p>
          <a:p>
            <a:pPr algn="ctr"/>
            <a:r>
              <a:rPr sz="1150">
                <a:solidFill>
                  <a:srgbClr val="C7D0DE"/>
                </a:solidFill>
                <a:latin typeface="Calibri"/>
              </a:rPr>
              <a:t>grounded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4215383"/>
            <a:ext cx="3794760" cy="658368"/>
          </a:xfrm>
          <a:prstGeom prst="roundRect">
            <a:avLst/>
          </a:prstGeom>
          <a:solidFill>
            <a:srgbClr val="1B2230"/>
          </a:solidFill>
          <a:ln w="12700">
            <a:solidFill>
              <a:srgbClr val="2C36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0FB5A6"/>
                </a:solidFill>
                <a:latin typeface="Calibri"/>
              </a:rPr>
              <a:t>5 / 5</a:t>
            </a:r>
          </a:p>
          <a:p>
            <a:pPr algn="ctr"/>
            <a:r>
              <a:rPr sz="1150">
                <a:solidFill>
                  <a:srgbClr val="C7D0DE"/>
                </a:solidFill>
                <a:latin typeface="Calibri"/>
              </a:rPr>
              <a:t>within limits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754880"/>
            <a:ext cx="6492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C7D0DE"/>
                </a:solidFill>
                <a:latin typeface="Calibri"/>
              </a:rPr>
              <a:t>Output, grounded in the PDFs: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C7D0DE"/>
                </a:solidFill>
                <a:latin typeface="Calibri"/>
              </a:rPr>
              <a:t>“Turn Vanguard's idle time into delivery time.”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7395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B82"/>
                </a:solidFill>
                <a:latin typeface="Consolas"/>
              </a:rPr>
              <a:t>ML6 — Senior AI Engineer Challenge  ·  Case 2 · GenAI collateral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A6B82"/>
                </a:solidFill>
                <a:latin typeface="Consola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spc="260">
                <a:solidFill>
                  <a:srgbClr val="0FB5A6"/>
                </a:solidFill>
                <a:latin typeface="Consolas"/>
              </a:rP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86868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>
                <a:solidFill>
                  <a:srgbClr val="10151E"/>
                </a:solidFill>
                <a:latin typeface="Trebuchet MS"/>
              </a:rPr>
              <a:t>A working slice today — a clear path to scale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240280"/>
            <a:ext cx="5212080" cy="169164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46888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0151E"/>
                </a:solidFill>
                <a:latin typeface="Trebuchet MS"/>
              </a:rPr>
              <a:t>Multi-tenancy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017520"/>
            <a:ext cx="4663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75569"/>
                </a:solidFill>
                <a:latin typeface="Calibri"/>
              </a:rPr>
              <a:t>tenant from the token; per-tenant CMEK + budgets (plumbing already in place)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2240280"/>
            <a:ext cx="5212080" cy="169164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246888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0151E"/>
                </a:solidFill>
                <a:latin typeface="Trebuchet MS"/>
              </a:rPr>
              <a:t>Org dashboard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3017520"/>
            <a:ext cx="4663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75569"/>
                </a:solidFill>
                <a:latin typeface="Calibri"/>
              </a:rPr>
              <a:t>every generation → BigQuery → Looker: cost/brochure, groundedness, throughput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160520"/>
            <a:ext cx="5212080" cy="169164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38912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0151E"/>
                </a:solidFill>
                <a:latin typeface="Trebuchet MS"/>
              </a:rPr>
              <a:t>Go agentic → Agent Engine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937759"/>
            <a:ext cx="4663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75569"/>
                </a:solidFill>
                <a:latin typeface="Calibri"/>
              </a:rPr>
              <a:t>when we add tools (live research, image sourcing) or a HITL pause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4160520"/>
            <a:ext cx="5212080" cy="169164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438912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0151E"/>
                </a:solidFill>
                <a:latin typeface="Trebuchet MS"/>
              </a:rPr>
              <a:t>Harden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4937759"/>
            <a:ext cx="4663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75569"/>
                </a:solidFill>
                <a:latin typeface="Calibri"/>
              </a:rPr>
              <a:t>EU-region model residency · tune the faithfulness judge · golden eval set in CI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47395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onsolas"/>
              </a:rPr>
              <a:t>ML6 — Senior AI Engineer Challenge  ·  Case 2 · GenAI collateral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