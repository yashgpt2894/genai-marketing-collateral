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ML6 · SENIOR AI ENGINEER · CASE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74519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FFFFF"/>
                </a:solidFill>
                <a:latin typeface="Trebuchet MS"/>
              </a:rPr>
              <a:t>Automated Generative</a:t>
            </a:r>
          </a:p>
          <a:p>
            <a:pPr algn="l">
              <a:lnSpc>
                <a:spcPct val="102000"/>
              </a:lnSpc>
            </a:pPr>
            <a:r>
              <a:rPr sz="4600" b="1">
                <a:solidFill>
                  <a:srgbClr val="FFFFFF"/>
                </a:solidFill>
                <a:latin typeface="Trebuchet MS"/>
              </a:rPr>
              <a:t>Marketing Collateral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C7D0DE"/>
                </a:solidFill>
                <a:latin typeface="Calibri"/>
              </a:rPr>
              <a:t>Company PDFs → on-brand, factually-grounded B2B articles, as structured JSON.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434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E8CA0"/>
                </a:solidFill>
                <a:latin typeface="Consolas"/>
              </a:rPr>
              <a:t>A deterministic, grounded LLM pipeline — deployed end-to-end on Google Cloud.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Editors hand-build every personalized brochure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Research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read both companies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3552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38728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Write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draft a bridging article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216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Gather assets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logos &amp; images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96528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61704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Fight the template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fit columns, limits, colours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14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Slow, repetitive, at volume — hours of editor time per brochure.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Automating research → layout turns that into seconds of compute at consistent, on-brand quality.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SOLUTION · END-TO-END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Two endpoints, one deterministic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Two PDFs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sender + receiver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59151" y="3337560"/>
            <a:ext cx="219457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587752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Parse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PyMuPDF + Gemini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69663" y="3337560"/>
            <a:ext cx="219457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98264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Briefs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cited facts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80176" y="3337560"/>
            <a:ext cx="219456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08776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Generate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draft → verify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3337560"/>
            <a:ext cx="219456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19288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ArticleJSON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layout-valid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01200" y="3337560"/>
            <a:ext cx="219456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829800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Brochure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render +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2368296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B5A6"/>
                </a:solidFill>
                <a:latin typeface="Consolas"/>
              </a:rPr>
              <a:t>POST /…/documents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2368296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B5A6"/>
                </a:solidFill>
                <a:latin typeface="Consolas"/>
              </a:rPr>
              <a:t>POST /generate → 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605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One continuous pipeline — input PDFs → grounded, cited ArticleJSON → rendered brochure. Deterministic, typed, fully traceable.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983480"/>
            <a:ext cx="274320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auth: Bearer ID token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4983480"/>
            <a:ext cx="310896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structured JSON, schema-valid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4983480"/>
            <a:ext cx="320040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every word limit enforced in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Contextual retrieval → LLM interaction → layout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1 · CONTEXTUAL RETRIEVAL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PDFs → distilled briefs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source-tagged facts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long-context (no RAG yet)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06240" y="3474720"/>
            <a:ext cx="320040" cy="0"/>
          </a:xfrm>
          <a:prstGeom prst="line">
            <a:avLst/>
          </a:prstGeom>
          <a:ln w="25400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57200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2 · LLM INTERACTION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draft — Gemini 2.5 Pro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grounded, inline citations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verify — 2.5 Flash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01000" y="3474720"/>
            <a:ext cx="320039" cy="0"/>
          </a:xfrm>
          <a:prstGeom prst="line">
            <a:avLst/>
          </a:prstGeom>
          <a:ln w="25400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6676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3 · LAYOUT / FORMATTING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map to template blocks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validate limits in code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repair loop → 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E8CA0"/>
                </a:solidFill>
                <a:latin typeface="Consolas"/>
              </a:rPr>
              <a:t>A fixed DAG — deterministic, typed, traceable. Not an open-ended agent.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ARCHITECTURE · GOOGLE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Managed, stateless, scales to zero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2286000" cy="73152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Client / curl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Bearer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965960"/>
            <a:ext cx="4754880" cy="731520"/>
          </a:xfrm>
          <a:prstGeom prst="roundRect">
            <a:avLst/>
          </a:prstGeom>
          <a:solidFill>
            <a:srgbClr val="0B2E2A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Cloud Run · API (FastAPI)</a:t>
            </a:r>
          </a:p>
          <a:p>
            <a:pPr algn="ctr"/>
            <a:r>
              <a:rPr sz="950">
                <a:solidFill>
                  <a:srgbClr val="C7D0DE"/>
                </a:solidFill>
                <a:latin typeface="Calibri"/>
              </a:rPr>
              <a:t>auth · stateless · scale-to-zero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31720"/>
            <a:ext cx="50292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3108960"/>
            <a:ext cx="475488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Pub/Sub → parse worker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PyMuPDF + Gemini 2.5 Flash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697480"/>
            <a:ext cx="0" cy="393192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69680" y="1965960"/>
            <a:ext cx="256032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Vertex AI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Gemini 2.5 Pro / Flash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0" y="2331720"/>
            <a:ext cx="41148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57600" y="4297680"/>
            <a:ext cx="228600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Firestore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briefs · jobs · outputs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297680"/>
            <a:ext cx="228600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Cloud Storage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PDFs · assets · CMEK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4846320" y="3886200"/>
            <a:ext cx="640080" cy="39319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0" y="3886200"/>
            <a:ext cx="640080" cy="39319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3246120"/>
            <a:ext cx="2697480" cy="1554480"/>
          </a:xfrm>
          <a:prstGeom prst="roundRect">
            <a:avLst/>
          </a:prstGeom>
          <a:solidFill>
            <a:srgbClr val="1B2230"/>
          </a:solidFill>
          <a:ln w="2540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4015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60">
                <a:solidFill>
                  <a:srgbClr val="E0A23E"/>
                </a:solidFill>
                <a:latin typeface="Consolas"/>
              </a:rPr>
              <a:t>WHY CLOUD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730752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7D0DE"/>
                </a:solidFill>
                <a:latin typeface="Calibri"/>
              </a:rPr>
              <a:t>Deterministic + tool-less → one stateless service. No agent runtime, no servers — scale-to-zero, tiny blast radius.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240280" y="2578608"/>
            <a:ext cx="1463040" cy="667512"/>
          </a:xfrm>
          <a:prstGeom prst="line">
            <a:avLst/>
          </a:prstGeom>
          <a:ln w="25400">
            <a:solidFill>
              <a:srgbClr val="E0A2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78240" y="2852928"/>
            <a:ext cx="2651760" cy="676656"/>
          </a:xfrm>
          <a:prstGeom prst="roundRect">
            <a:avLst/>
          </a:prstGeom>
          <a:solidFill>
            <a:srgbClr val="1B2230"/>
          </a:solidFill>
          <a:ln w="1905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8" y="294436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NO API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3200400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C7D0DE"/>
                </a:solidFill>
                <a:latin typeface="Calibri"/>
              </a:rPr>
              <a:t>Vertex via the Cloud Run service account (ADC)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3639312"/>
            <a:ext cx="2651760" cy="960120"/>
          </a:xfrm>
          <a:prstGeom prst="roundRect">
            <a:avLst/>
          </a:prstGeom>
          <a:solidFill>
            <a:srgbClr val="1B2230"/>
          </a:solidFill>
          <a:ln w="1905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9408" y="3730752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ASYNC PARSE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400507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7D0DE"/>
                </a:solidFill>
                <a:latin typeface="Calibri"/>
              </a:rPr>
              <a:t>Pub/Sub queues parse/upload bursts (+ DLQ), off the request path.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8430768" y="3584448"/>
            <a:ext cx="329184" cy="393191"/>
          </a:xfrm>
          <a:prstGeom prst="line">
            <a:avLst/>
          </a:prstGeom>
          <a:ln w="19050">
            <a:solidFill>
              <a:srgbClr val="E0A2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3232" y="5321808"/>
            <a:ext cx="10744200" cy="786384"/>
          </a:xfrm>
          <a:prstGeom prst="roundRect">
            <a:avLst/>
          </a:prstGeom>
          <a:noFill/>
          <a:ln w="15875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4132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SECURITY SPINE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24144"/>
            <a:ext cx="10469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FB0C8"/>
                </a:solidFill>
                <a:latin typeface="Consolas"/>
              </a:rPr>
              <a:t>Google ID-token auth + IAM   ·   CMEK   ·   EU-region storage   ·   Pub/Sub DLQ   ·   Terraform (infra/)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CRUX · FACTUAL CORRECTNESS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Grounded, cited, verified — and honest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Briefs only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distilled facts,
never raw PDF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3552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38728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Inline citations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every claim →
a brief fact-id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216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Verify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claim-level check,
flag unsupported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96528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61704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Human review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reviewable draft;
never auto-publish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Grounding reduces hallucination — it doesn't eliminate it. So citations stay, and a human approves before anything is mailed.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LAYOUT = HARD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Don't trust the model to count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286000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Draft block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controlled generation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08960" y="2880360"/>
            <a:ext cx="594360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749039" y="2377440"/>
            <a:ext cx="2743200" cy="1005840"/>
          </a:xfrm>
          <a:prstGeom prst="roundRect">
            <a:avLst/>
          </a:prstGeom>
          <a:solidFill>
            <a:srgbClr val="EAF8F6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Validate in code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words · image · colour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37960" y="2880360"/>
            <a:ext cx="594360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78040" y="2377440"/>
            <a:ext cx="2194560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Repair (capped)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rewrite offending block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75320" y="3383280"/>
            <a:ext cx="0" cy="50292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178040" y="3931920"/>
            <a:ext cx="2194560" cy="9144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Truncate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sentence boundary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120640" y="4389120"/>
            <a:ext cx="2048256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120640" y="3401568"/>
            <a:ext cx="0" cy="98755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601200" y="2377440"/>
            <a:ext cx="1737360" cy="1005840"/>
          </a:xfrm>
          <a:prstGeom prst="roundRect">
            <a:avLst/>
          </a:prstGeom>
          <a:solidFill>
            <a:srgbClr val="0B2E2A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 JSON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72600" y="2880360"/>
            <a:ext cx="18288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Word/char limits, image placeholders and theme colours are ground-truth checks in a framework-free engine — fixed by a targeted loop, with graceful truncation as the floor.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SECURITY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Secure by default, scales on its 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5074920" cy="310896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Google ID-token auth + Cloud Run IAM (defense in depth)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Untrusted PDFs → injection hard gate (refuse, fail closed) + data-not-instructions channel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CMEK-encrypted storage · EU region (europe-west1) · least-privilege IAM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no tools / side-effects → tiny blast radius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103120"/>
            <a:ext cx="5074920" cy="310896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331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803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Cloud Run autoscales 0 → N on concurrency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Pub/Sub absorbs upload bursts (queue + DLQ)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long/bursty jobs → ?async=true (off-path)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stateless → any instance serves any request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ceiling = Vertex quota, not compute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LIVE · END-TO-END ON GCP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It runs — from the terminal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6492240" cy="2468880"/>
          </a:xfrm>
          <a:prstGeom prst="roundRect">
            <a:avLst/>
          </a:prstGeom>
          <a:solidFill>
            <a:srgbClr val="0A0E16"/>
          </a:solidFill>
          <a:ln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6217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-H "Authorization: Bearer $TOKEN" \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    -F role=sender -F files=@sender.pdf  $URL/companies/demo/documents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... -F role=receiver -F files=@receiver.pdf  .../documents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-X POST $URL/generate -d '{"pair_id":"demo","prompt":"…"}'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    → 200  { template_id, blocks:[…], confidence, meta:{…}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965960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gemini-2.5-pro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writer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715768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$0.01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per brochure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54880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Output, grounded in the PDFs: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“Turn Vanguard's idle time into delivery time.”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Why these choices?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Pragmatism over shiny — the simplest thing that works, with the upgrade path named.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585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Deterministic typed pipeline — not an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694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predictable, testable, traceable; ADK / Agent Engine only when we add tools or a HITL pause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7180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815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Long-context grounding — not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9242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a bounded two-company corpus fits in context — full traceability, no vector DB; RAG when it grows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6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0448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Managed Gemini on Vertex — not self-hosted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153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ship now at ~$0.01 / brochure with no GPUs to run; revisit fine-tuning only at real volume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1772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7274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Limits &amp; images enforced in code — not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03834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the LLM is great at language, weak at counting/choosing — code owns word limits, image slots, 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44068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55040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Cloud Run — not GKE or Agent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861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stateless + tool-less → scale-to-zero, a tiny blast radius and minimal 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ROADMAP &amp;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A working slice today — a clear path to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317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Multi-tenancy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7340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tenant from the token; per-tenant CMEK + budgets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4472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single-tenant ships now — keys already threaded, so it's config not a refactor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Org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340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every generation → BigQuery → Looker (cost, groundedness, throughput)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4472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the BigQuery export is built — only the Looker wiring is left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1480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76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Go agentic → Agent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000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tools (live research, image sourcing) or a HITL pause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41324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agents add cost + opacity — not until there are real tools to call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11480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976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Harden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000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Model Armor injection filter · tune the judge · golden eval set in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541324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model calls use the global endpoint today — EU residency is the open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