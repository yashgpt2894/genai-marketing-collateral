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60">
                <a:solidFill>
                  <a:srgbClr val="0FB5A6"/>
                </a:solidFill>
                <a:latin typeface="Consolas"/>
              </a:rPr>
              <a:t>ML6 · SENIOR AI ENGINEER · CASE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74519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>
                <a:solidFill>
                  <a:srgbClr val="FFFFFF"/>
                </a:solidFill>
                <a:latin typeface="Trebuchet MS"/>
              </a:rPr>
              <a:t>Automated Generative</a:t>
            </a:r>
          </a:p>
          <a:p>
            <a:pPr algn="l">
              <a:lnSpc>
                <a:spcPct val="102000"/>
              </a:lnSpc>
            </a:pPr>
            <a:r>
              <a:rPr sz="4600" b="1">
                <a:solidFill>
                  <a:srgbClr val="FFFFFF"/>
                </a:solidFill>
                <a:latin typeface="Trebuchet MS"/>
              </a:rPr>
              <a:t>Marketing Collateral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776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C7D0DE"/>
                </a:solidFill>
                <a:latin typeface="Calibri"/>
              </a:rPr>
              <a:t>Company PDFs → on-brand, factually-grounded B2B articles, as structured JSON.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434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E8CA0"/>
                </a:solidFill>
                <a:latin typeface="Consolas"/>
              </a:rPr>
              <a:t>A deterministic, grounded LLM pipeline — deployed end-to-end on Google Cloud.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Consolas"/>
              </a:rPr>
              <a:t>ML6 — Senior AI Engineer Challenge  ·  Case 2 · GenAI collateral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60">
                <a:solidFill>
                  <a:srgbClr val="0FB5A6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0151E"/>
                </a:solidFill>
                <a:latin typeface="Trebuchet MS"/>
              </a:rPr>
              <a:t>Editors hand-build every personalized brochure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86000"/>
            <a:ext cx="2468880" cy="13716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0151E"/>
                </a:solidFill>
                <a:latin typeface="Calibri"/>
              </a:rPr>
              <a:t>Research</a:t>
            </a:r>
          </a:p>
          <a:p>
            <a:pPr algn="ctr"/>
            <a:r>
              <a:rPr sz="1050">
                <a:solidFill>
                  <a:srgbClr val="64748B"/>
                </a:solidFill>
                <a:latin typeface="Calibri"/>
              </a:rPr>
              <a:t>read both companies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73552" y="2971800"/>
            <a:ext cx="237744" cy="0"/>
          </a:xfrm>
          <a:prstGeom prst="line">
            <a:avLst/>
          </a:prstGeom>
          <a:ln w="1905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538728" y="2286000"/>
            <a:ext cx="2468880" cy="13716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0151E"/>
                </a:solidFill>
                <a:latin typeface="Calibri"/>
              </a:rPr>
              <a:t>Write</a:t>
            </a:r>
          </a:p>
          <a:p>
            <a:pPr algn="ctr"/>
            <a:r>
              <a:rPr sz="1050">
                <a:solidFill>
                  <a:srgbClr val="64748B"/>
                </a:solidFill>
                <a:latin typeface="Calibri"/>
              </a:rPr>
              <a:t>draft a bridging article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2971800"/>
            <a:ext cx="237744" cy="0"/>
          </a:xfrm>
          <a:prstGeom prst="line">
            <a:avLst/>
          </a:prstGeom>
          <a:ln w="1905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0216" y="2286000"/>
            <a:ext cx="2468880" cy="13716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0151E"/>
                </a:solidFill>
                <a:latin typeface="Calibri"/>
              </a:rPr>
              <a:t>Gather assets</a:t>
            </a:r>
          </a:p>
          <a:p>
            <a:pPr algn="ctr"/>
            <a:r>
              <a:rPr sz="1050">
                <a:solidFill>
                  <a:srgbClr val="64748B"/>
                </a:solidFill>
                <a:latin typeface="Calibri"/>
              </a:rPr>
              <a:t>logos &amp; images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96528" y="2971800"/>
            <a:ext cx="237744" cy="0"/>
          </a:xfrm>
          <a:prstGeom prst="line">
            <a:avLst/>
          </a:prstGeom>
          <a:ln w="1905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61704" y="2286000"/>
            <a:ext cx="2468880" cy="13716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0151E"/>
                </a:solidFill>
                <a:latin typeface="Calibri"/>
              </a:rPr>
              <a:t>Fight the template</a:t>
            </a:r>
          </a:p>
          <a:p>
            <a:pPr algn="ctr"/>
            <a:r>
              <a:rPr sz="1050">
                <a:solidFill>
                  <a:srgbClr val="64748B"/>
                </a:solidFill>
                <a:latin typeface="Calibri"/>
              </a:rPr>
              <a:t>fit columns, limits, colours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Slow, repetitive, at volume — hours of editor time per brochure.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Automating research → layout turns that into seconds of compute at consistent, on-brand quality.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ML6 — Senior AI Engineer Challenge  ·  Case 2 · GenAI collateral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60">
                <a:solidFill>
                  <a:srgbClr val="0FB5A6"/>
                </a:solidFill>
                <a:latin typeface="Consolas"/>
              </a:rPr>
              <a:t>THE SOLUTION · THE API IS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0151E"/>
                </a:solidFill>
                <a:latin typeface="Trebuchet MS"/>
              </a:rPr>
              <a:t>Two endpoints, one deterministic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B5A6"/>
                </a:solidFill>
                <a:latin typeface="Consolas"/>
              </a:rPr>
              <a:t>POST /companies/{pair}/documents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2432304" cy="10058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>Upload PDFs</a:t>
            </a:r>
          </a:p>
          <a:p>
            <a:pPr algn="ctr"/>
            <a:r>
              <a:rPr sz="850">
                <a:solidFill>
                  <a:srgbClr val="64748B"/>
                </a:solidFill>
                <a:latin typeface="Calibri"/>
              </a:rPr>
              <a:t>sender + receiver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27832" y="2697480"/>
            <a:ext cx="237744" cy="0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83864" y="2194560"/>
            <a:ext cx="2432304" cy="10058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>Parse (async)</a:t>
            </a:r>
          </a:p>
          <a:p>
            <a:pPr algn="ctr"/>
            <a:r>
              <a:rPr sz="850">
                <a:solidFill>
                  <a:srgbClr val="64748B"/>
                </a:solidFill>
                <a:latin typeface="Calibri"/>
              </a:rPr>
              <a:t>Pub/Sub → worker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34456" y="2697480"/>
            <a:ext cx="237744" cy="0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90488" y="2194560"/>
            <a:ext cx="2432304" cy="10058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>CompanyBrief</a:t>
            </a:r>
          </a:p>
          <a:p>
            <a:pPr algn="ctr"/>
            <a:r>
              <a:rPr sz="850">
                <a:solidFill>
                  <a:srgbClr val="64748B"/>
                </a:solidFill>
                <a:latin typeface="Calibri"/>
              </a:rPr>
              <a:t>source-tagged facts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41080" y="2697480"/>
            <a:ext cx="237744" cy="0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897112" y="2194560"/>
            <a:ext cx="2432304" cy="10058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>Store</a:t>
            </a:r>
          </a:p>
          <a:p>
            <a:pPr algn="ctr"/>
            <a:r>
              <a:rPr sz="850">
                <a:solidFill>
                  <a:srgbClr val="64748B"/>
                </a:solidFill>
                <a:latin typeface="Calibri"/>
              </a:rPr>
              <a:t>Firestore + GCS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118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B5A6"/>
                </a:solidFill>
                <a:latin typeface="Consolas"/>
              </a:rPr>
              <a:t>POST /generate  →  200  ArticleJSON (sync)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31920"/>
            <a:ext cx="2432304" cy="10058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>Assemble</a:t>
            </a:r>
          </a:p>
          <a:p>
            <a:pPr algn="ctr"/>
            <a:r>
              <a:rPr sz="850">
                <a:solidFill>
                  <a:srgbClr val="64748B"/>
                </a:solidFill>
                <a:latin typeface="Calibri"/>
              </a:rPr>
              <a:t>grounded context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27832" y="4434840"/>
            <a:ext cx="237744" cy="0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83864" y="3931920"/>
            <a:ext cx="2432304" cy="10058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>Draft</a:t>
            </a:r>
          </a:p>
          <a:p>
            <a:pPr algn="ctr"/>
            <a:r>
              <a:rPr sz="850">
                <a:solidFill>
                  <a:srgbClr val="64748B"/>
                </a:solidFill>
                <a:latin typeface="Calibri"/>
              </a:rPr>
              <a:t>cited, Gemini Pro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34456" y="4434840"/>
            <a:ext cx="237744" cy="0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90488" y="3931920"/>
            <a:ext cx="2432304" cy="10058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>Map + validate</a:t>
            </a:r>
          </a:p>
          <a:p>
            <a:pPr algn="ctr"/>
            <a:r>
              <a:rPr sz="850">
                <a:solidFill>
                  <a:srgbClr val="64748B"/>
                </a:solidFill>
                <a:latin typeface="Calibri"/>
              </a:rPr>
              <a:t>limits in code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41080" y="4434840"/>
            <a:ext cx="237744" cy="0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897112" y="3931920"/>
            <a:ext cx="2432304" cy="10058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>ArticleJSON</a:t>
            </a:r>
          </a:p>
          <a:p>
            <a:pPr algn="ctr"/>
            <a:r>
              <a:rPr sz="850">
                <a:solidFill>
                  <a:srgbClr val="64748B"/>
                </a:solidFill>
                <a:latin typeface="Calibri"/>
              </a:rPr>
              <a:t>+ cost, confidence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349240"/>
            <a:ext cx="2743200" cy="310896"/>
          </a:xfrm>
          <a:prstGeom prst="roundRect">
            <a:avLst/>
          </a:prstGeom>
          <a:noFill/>
          <a:ln w="12700">
            <a:solidFill>
              <a:srgbClr val="0FB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>
                <a:solidFill>
                  <a:srgbClr val="0FB5A6"/>
                </a:solidFill>
                <a:latin typeface="Consolas"/>
              </a:rPr>
              <a:t>auth: Bearer ID token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5349240"/>
            <a:ext cx="3108960" cy="310896"/>
          </a:xfrm>
          <a:prstGeom prst="roundRect">
            <a:avLst/>
          </a:prstGeom>
          <a:noFill/>
          <a:ln w="12700">
            <a:solidFill>
              <a:srgbClr val="0FB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>
                <a:solidFill>
                  <a:srgbClr val="0FB5A6"/>
                </a:solidFill>
                <a:latin typeface="Consolas"/>
              </a:rPr>
              <a:t>structured JSON, schema-valid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5349240"/>
            <a:ext cx="3200400" cy="310896"/>
          </a:xfrm>
          <a:prstGeom prst="roundRect">
            <a:avLst/>
          </a:prstGeom>
          <a:noFill/>
          <a:ln w="12700">
            <a:solidFill>
              <a:srgbClr val="0FB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>
                <a:solidFill>
                  <a:srgbClr val="0FB5A6"/>
                </a:solidFill>
                <a:latin typeface="Consolas"/>
              </a:rPr>
              <a:t>every word limit enforced in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ML6 — Senior AI Engineer Challenge  ·  Case 2 · GenAI collateral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60">
                <a:solidFill>
                  <a:srgbClr val="0FB5A6"/>
                </a:solidFill>
                <a:latin typeface="Consolas"/>
              </a:rPr>
              <a:t>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FFFFFF"/>
                </a:solidFill>
                <a:latin typeface="Trebuchet MS"/>
              </a:rPr>
              <a:t>Contextual retrieval → LLM interaction → 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3383280" cy="2743200"/>
          </a:xfrm>
          <a:prstGeom prst="roundRect">
            <a:avLst/>
          </a:prstGeom>
          <a:solidFill>
            <a:srgbClr val="1B2230"/>
          </a:solidFill>
          <a:ln w="12700">
            <a:solidFill>
              <a:srgbClr val="2C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B5A6"/>
                </a:solidFill>
                <a:latin typeface="Consolas"/>
              </a:rPr>
              <a:t>1 · CONTEXTUAL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2926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C7D0DE"/>
                </a:solidFill>
                <a:latin typeface="Calibri"/>
              </a:rPr>
              <a:t>•  PDFs → distilled briefs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C7D0DE"/>
                </a:solidFill>
                <a:latin typeface="Calibri"/>
              </a:rPr>
              <a:t>•  source-tagged facts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C7D0DE"/>
                </a:solidFill>
                <a:latin typeface="Calibri"/>
              </a:rPr>
              <a:t>•  long-context (no RAG yet)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06240" y="3474720"/>
            <a:ext cx="320040" cy="0"/>
          </a:xfrm>
          <a:prstGeom prst="line">
            <a:avLst/>
          </a:prstGeom>
          <a:ln w="25400">
            <a:solidFill>
              <a:srgbClr val="0FB5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0" y="2103120"/>
            <a:ext cx="3383280" cy="2743200"/>
          </a:xfrm>
          <a:prstGeom prst="roundRect">
            <a:avLst/>
          </a:prstGeom>
          <a:solidFill>
            <a:srgbClr val="1B2230"/>
          </a:solidFill>
          <a:ln w="12700">
            <a:solidFill>
              <a:srgbClr val="2C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3317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B5A6"/>
                </a:solidFill>
                <a:latin typeface="Consolas"/>
              </a:rPr>
              <a:t>2 · LLM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971800"/>
            <a:ext cx="2926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C7D0DE"/>
                </a:solidFill>
                <a:latin typeface="Calibri"/>
              </a:rPr>
              <a:t>•  draft — Gemini 2.5 Pro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C7D0DE"/>
                </a:solidFill>
                <a:latin typeface="Calibri"/>
              </a:rPr>
              <a:t>•  grounded, inline citations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C7D0DE"/>
                </a:solidFill>
                <a:latin typeface="Calibri"/>
              </a:rPr>
              <a:t>•  verify — 2.5 Flash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01000" y="3474720"/>
            <a:ext cx="320039" cy="0"/>
          </a:xfrm>
          <a:prstGeom prst="line">
            <a:avLst/>
          </a:prstGeom>
          <a:ln w="25400">
            <a:solidFill>
              <a:srgbClr val="0FB5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66760" y="2103120"/>
            <a:ext cx="3383280" cy="2743200"/>
          </a:xfrm>
          <a:prstGeom prst="roundRect">
            <a:avLst/>
          </a:prstGeom>
          <a:solidFill>
            <a:srgbClr val="1B2230"/>
          </a:solidFill>
          <a:ln w="12700">
            <a:solidFill>
              <a:srgbClr val="2C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3317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B5A6"/>
                </a:solidFill>
                <a:latin typeface="Consolas"/>
              </a:rPr>
              <a:t>3 · LAYOUT / FORMATTING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971800"/>
            <a:ext cx="2926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C7D0DE"/>
                </a:solidFill>
                <a:latin typeface="Calibri"/>
              </a:rPr>
              <a:t>•  map to template blocks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C7D0DE"/>
                </a:solidFill>
                <a:latin typeface="Calibri"/>
              </a:rPr>
              <a:t>•  validate limits in code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C7D0DE"/>
                </a:solidFill>
                <a:latin typeface="Calibri"/>
              </a:rPr>
              <a:t>•  repair loop →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E8CA0"/>
                </a:solidFill>
                <a:latin typeface="Consolas"/>
              </a:rPr>
              <a:t>A fixed DAG — deterministic, typed, traceable. Not an open-ended agent.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Consolas"/>
              </a:rPr>
              <a:t>ML6 — Senior AI Engineer Challenge  ·  Case 2 · GenAI collateral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60">
                <a:solidFill>
                  <a:srgbClr val="0FB5A6"/>
                </a:solidFill>
                <a:latin typeface="Consolas"/>
              </a:rPr>
              <a:t>ARCHITECTURE · GOOGLE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FFFFFF"/>
                </a:solidFill>
                <a:latin typeface="Trebuchet MS"/>
              </a:rPr>
              <a:t>Managed, stateless, scales to zero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2286000" cy="731520"/>
          </a:xfrm>
          <a:prstGeom prst="roundRect">
            <a:avLst/>
          </a:prstGeom>
          <a:solidFill>
            <a:srgbClr val="1B2230"/>
          </a:solidFill>
          <a:ln w="12700">
            <a:solidFill>
              <a:srgbClr val="2C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Client / curl</a:t>
            </a:r>
          </a:p>
          <a:p>
            <a:pPr algn="ctr"/>
            <a:r>
              <a:rPr sz="850">
                <a:solidFill>
                  <a:srgbClr val="C7D0DE"/>
                </a:solidFill>
                <a:latin typeface="Calibri"/>
              </a:rPr>
              <a:t>Bearer ID token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965960"/>
            <a:ext cx="4754880" cy="731520"/>
          </a:xfrm>
          <a:prstGeom prst="roundRect">
            <a:avLst/>
          </a:prstGeom>
          <a:solidFill>
            <a:srgbClr val="0B2E2A"/>
          </a:solidFill>
          <a:ln w="12700">
            <a:solidFill>
              <a:srgbClr val="0FB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Cloud Run · API (FastAPI)</a:t>
            </a:r>
          </a:p>
          <a:p>
            <a:pPr algn="ctr"/>
            <a:r>
              <a:rPr sz="950">
                <a:solidFill>
                  <a:srgbClr val="C7D0DE"/>
                </a:solidFill>
                <a:latin typeface="Calibri"/>
              </a:rPr>
              <a:t>auth · stateless · scale-to-zero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331720"/>
            <a:ext cx="502920" cy="0"/>
          </a:xfrm>
          <a:prstGeom prst="line">
            <a:avLst/>
          </a:prstGeom>
          <a:ln w="22225">
            <a:solidFill>
              <a:srgbClr val="0FB5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3108960"/>
            <a:ext cx="4754880" cy="777240"/>
          </a:xfrm>
          <a:prstGeom prst="roundRect">
            <a:avLst/>
          </a:prstGeom>
          <a:solidFill>
            <a:srgbClr val="1B2230"/>
          </a:solidFill>
          <a:ln w="12700">
            <a:solidFill>
              <a:srgbClr val="2C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Pub/Sub → parse worker</a:t>
            </a:r>
          </a:p>
          <a:p>
            <a:pPr algn="ctr"/>
            <a:r>
              <a:rPr sz="850">
                <a:solidFill>
                  <a:srgbClr val="C7D0DE"/>
                </a:solidFill>
                <a:latin typeface="Calibri"/>
              </a:rPr>
              <a:t>PyMuPDF + Gemini 2.5 Flash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2697480"/>
            <a:ext cx="0" cy="393192"/>
          </a:xfrm>
          <a:prstGeom prst="line">
            <a:avLst/>
          </a:prstGeom>
          <a:ln w="22225">
            <a:solidFill>
              <a:srgbClr val="0FB5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869680" y="1965960"/>
            <a:ext cx="2560320" cy="777240"/>
          </a:xfrm>
          <a:prstGeom prst="roundRect">
            <a:avLst/>
          </a:prstGeom>
          <a:solidFill>
            <a:srgbClr val="1B2230"/>
          </a:solidFill>
          <a:ln w="12700">
            <a:solidFill>
              <a:srgbClr val="2C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Vertex AI</a:t>
            </a:r>
          </a:p>
          <a:p>
            <a:pPr algn="ctr"/>
            <a:r>
              <a:rPr sz="850">
                <a:solidFill>
                  <a:srgbClr val="C7D0DE"/>
                </a:solidFill>
                <a:latin typeface="Calibri"/>
              </a:rPr>
              <a:t>Gemini 2.5 Pro / Flash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0" y="2331720"/>
            <a:ext cx="411480" cy="0"/>
          </a:xfrm>
          <a:prstGeom prst="line">
            <a:avLst/>
          </a:prstGeom>
          <a:ln w="22225">
            <a:solidFill>
              <a:srgbClr val="0FB5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0" y="4297680"/>
            <a:ext cx="2286000" cy="777240"/>
          </a:xfrm>
          <a:prstGeom prst="roundRect">
            <a:avLst/>
          </a:prstGeom>
          <a:solidFill>
            <a:srgbClr val="1B2230"/>
          </a:solidFill>
          <a:ln w="12700">
            <a:solidFill>
              <a:srgbClr val="2C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Firestore</a:t>
            </a:r>
          </a:p>
          <a:p>
            <a:pPr algn="ctr"/>
            <a:r>
              <a:rPr sz="850">
                <a:solidFill>
                  <a:srgbClr val="C7D0DE"/>
                </a:solidFill>
                <a:latin typeface="Calibri"/>
              </a:rPr>
              <a:t>briefs · jobs · outputs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297680"/>
            <a:ext cx="2286000" cy="777240"/>
          </a:xfrm>
          <a:prstGeom prst="roundRect">
            <a:avLst/>
          </a:prstGeom>
          <a:solidFill>
            <a:srgbClr val="1B2230"/>
          </a:solidFill>
          <a:ln w="12700">
            <a:solidFill>
              <a:srgbClr val="2C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Cloud Storage</a:t>
            </a:r>
          </a:p>
          <a:p>
            <a:pPr algn="ctr"/>
            <a:r>
              <a:rPr sz="850">
                <a:solidFill>
                  <a:srgbClr val="C7D0DE"/>
                </a:solidFill>
                <a:latin typeface="Calibri"/>
              </a:rPr>
              <a:t>PDFs · assets · CMEK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846320" y="3886200"/>
            <a:ext cx="640080" cy="393192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83680" y="3886200"/>
            <a:ext cx="640080" cy="393192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3246120"/>
            <a:ext cx="2697480" cy="1554480"/>
          </a:xfrm>
          <a:prstGeom prst="roundRect">
            <a:avLst/>
          </a:prstGeom>
          <a:solidFill>
            <a:srgbClr val="1B2230"/>
          </a:solidFill>
          <a:ln w="25400">
            <a:solidFill>
              <a:srgbClr val="E0A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4015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60">
                <a:solidFill>
                  <a:srgbClr val="E0A23E"/>
                </a:solidFill>
                <a:latin typeface="Consolas"/>
              </a:rPr>
              <a:t>WHY CLOUD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730752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7D0DE"/>
                </a:solidFill>
                <a:latin typeface="Calibri"/>
              </a:rPr>
              <a:t>Deterministic + tool-less → one stateless service. No agent runtime, no servers — scale-to-zero, tiny blast radius.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240280" y="2578608"/>
            <a:ext cx="1463040" cy="667512"/>
          </a:xfrm>
          <a:prstGeom prst="line">
            <a:avLst/>
          </a:prstGeom>
          <a:ln w="25400">
            <a:solidFill>
              <a:srgbClr val="E0A2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778240" y="2852928"/>
            <a:ext cx="2651760" cy="676656"/>
          </a:xfrm>
          <a:prstGeom prst="roundRect">
            <a:avLst/>
          </a:prstGeom>
          <a:solidFill>
            <a:srgbClr val="1B2230"/>
          </a:solidFill>
          <a:ln w="19050">
            <a:solidFill>
              <a:srgbClr val="E0A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2944368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260">
                <a:solidFill>
                  <a:srgbClr val="E0A23E"/>
                </a:solidFill>
                <a:latin typeface="Consolas"/>
              </a:rPr>
              <a:t>NO API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3200400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7D0DE"/>
                </a:solidFill>
                <a:latin typeface="Calibri"/>
              </a:rPr>
              <a:t>Vertex via the Cloud Run service account (ADC)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3639312"/>
            <a:ext cx="2651760" cy="960120"/>
          </a:xfrm>
          <a:prstGeom prst="roundRect">
            <a:avLst/>
          </a:prstGeom>
          <a:solidFill>
            <a:srgbClr val="1B2230"/>
          </a:solidFill>
          <a:ln w="19050">
            <a:solidFill>
              <a:srgbClr val="E0A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9408" y="373075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260">
                <a:solidFill>
                  <a:srgbClr val="E0A23E"/>
                </a:solidFill>
                <a:latin typeface="Consolas"/>
              </a:rPr>
              <a:t>ASYNC PARSE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400507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C7D0DE"/>
                </a:solidFill>
                <a:latin typeface="Calibri"/>
              </a:rPr>
              <a:t>Pub/Sub queues parse/upload bursts (+ DLQ), off the request path.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8430768" y="3584448"/>
            <a:ext cx="329184" cy="393191"/>
          </a:xfrm>
          <a:prstGeom prst="line">
            <a:avLst/>
          </a:prstGeom>
          <a:ln w="19050">
            <a:solidFill>
              <a:srgbClr val="E0A2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3232" y="5321808"/>
            <a:ext cx="10744200" cy="786384"/>
          </a:xfrm>
          <a:prstGeom prst="roundRect">
            <a:avLst/>
          </a:prstGeom>
          <a:noFill/>
          <a:ln w="15875">
            <a:solidFill>
              <a:srgbClr val="E0A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132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260">
                <a:solidFill>
                  <a:srgbClr val="E0A23E"/>
                </a:solidFill>
                <a:latin typeface="Consolas"/>
              </a:rPr>
              <a:t>SECURITY SPINE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24144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FB0C8"/>
                </a:solidFill>
                <a:latin typeface="Consolas"/>
              </a:rPr>
              <a:t>Google ID-token auth + IAM   ·   CMEK   ·   EU-region storage   ·   Pub/Sub DLQ   ·   Terraform (infra/)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Consolas"/>
              </a:rPr>
              <a:t>ML6 — Senior AI Engineer Challenge  ·  Case 2 · GenAI collateral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60">
                <a:solidFill>
                  <a:srgbClr val="0FB5A6"/>
                </a:solidFill>
                <a:latin typeface="Consolas"/>
              </a:rPr>
              <a:t>THE CRUX · FACTUAL CORRECTNESS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0151E"/>
                </a:solidFill>
                <a:latin typeface="Trebuchet MS"/>
              </a:rPr>
              <a:t>Grounded, cited, verified — and honest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86000"/>
            <a:ext cx="2468880" cy="13716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0151E"/>
                </a:solidFill>
                <a:latin typeface="Calibri"/>
              </a:rPr>
              <a:t>Briefs only</a:t>
            </a:r>
          </a:p>
          <a:p>
            <a:pPr algn="ctr"/>
            <a:r>
              <a:rPr sz="1050">
                <a:solidFill>
                  <a:srgbClr val="475569"/>
                </a:solidFill>
                <a:latin typeface="Calibri"/>
              </a:rPr>
              <a:t>distilled facts,
never raw PDF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73552" y="2971800"/>
            <a:ext cx="237744" cy="0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538728" y="2286000"/>
            <a:ext cx="2468880" cy="13716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0151E"/>
                </a:solidFill>
                <a:latin typeface="Calibri"/>
              </a:rPr>
              <a:t>Inline citations</a:t>
            </a:r>
          </a:p>
          <a:p>
            <a:pPr algn="ctr"/>
            <a:r>
              <a:rPr sz="1050">
                <a:solidFill>
                  <a:srgbClr val="475569"/>
                </a:solidFill>
                <a:latin typeface="Calibri"/>
              </a:rPr>
              <a:t>every claim →
a brief fact-id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2971800"/>
            <a:ext cx="237744" cy="0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0216" y="2286000"/>
            <a:ext cx="2468880" cy="13716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0151E"/>
                </a:solidFill>
                <a:latin typeface="Calibri"/>
              </a:rPr>
              <a:t>Verify</a:t>
            </a:r>
          </a:p>
          <a:p>
            <a:pPr algn="ctr"/>
            <a:r>
              <a:rPr sz="1050">
                <a:solidFill>
                  <a:srgbClr val="475569"/>
                </a:solidFill>
                <a:latin typeface="Calibri"/>
              </a:rPr>
              <a:t>claim-level check,
flag unsupported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96528" y="2971800"/>
            <a:ext cx="237744" cy="0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61704" y="2286000"/>
            <a:ext cx="2468880" cy="13716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0151E"/>
                </a:solidFill>
                <a:latin typeface="Calibri"/>
              </a:rPr>
              <a:t>Human review</a:t>
            </a:r>
          </a:p>
          <a:p>
            <a:pPr algn="ctr"/>
            <a:r>
              <a:rPr sz="1050">
                <a:solidFill>
                  <a:srgbClr val="475569"/>
                </a:solidFill>
                <a:latin typeface="Calibri"/>
              </a:rPr>
              <a:t>reviewable draft;
never auto-publish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Grounding reduces hallucination — it doesn't eliminate it. So citations stay, and a human approves before anything is mailed.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ML6 — Senior AI Engineer Challenge  ·  Case 2 · GenAI collateral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60">
                <a:solidFill>
                  <a:srgbClr val="0FB5A6"/>
                </a:solidFill>
                <a:latin typeface="Consolas"/>
              </a:rPr>
              <a:t>LAYOUT = HARD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0151E"/>
                </a:solidFill>
                <a:latin typeface="Trebuchet MS"/>
              </a:rPr>
              <a:t>Don't trust the model to count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377440"/>
            <a:ext cx="2286000" cy="10058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0151E"/>
                </a:solidFill>
                <a:latin typeface="Calibri"/>
              </a:rPr>
              <a:t>Draft block</a:t>
            </a:r>
          </a:p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controlled generation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08960" y="2880360"/>
            <a:ext cx="594360" cy="0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749039" y="2377440"/>
            <a:ext cx="2743200" cy="1005840"/>
          </a:xfrm>
          <a:prstGeom prst="roundRect">
            <a:avLst/>
          </a:prstGeom>
          <a:solidFill>
            <a:srgbClr val="EAF8F6"/>
          </a:solidFill>
          <a:ln w="12700">
            <a:solidFill>
              <a:srgbClr val="0FB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0151E"/>
                </a:solidFill>
                <a:latin typeface="Calibri"/>
              </a:rPr>
              <a:t>Validate in code</a:t>
            </a:r>
          </a:p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words · image · colour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37960" y="2880360"/>
            <a:ext cx="594360" cy="0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178040" y="2377440"/>
            <a:ext cx="2194560" cy="10058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0151E"/>
                </a:solidFill>
                <a:latin typeface="Calibri"/>
              </a:rPr>
              <a:t>Repair (capped)</a:t>
            </a:r>
          </a:p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rewrite offending block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75320" y="3383280"/>
            <a:ext cx="0" cy="502920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78040" y="3931920"/>
            <a:ext cx="2194560" cy="9144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0151E"/>
                </a:solidFill>
                <a:latin typeface="Calibri"/>
              </a:rPr>
              <a:t>Truncate</a:t>
            </a:r>
          </a:p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sentence boundary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5120640" y="4389120"/>
            <a:ext cx="2048256" cy="0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120640" y="3401568"/>
            <a:ext cx="0" cy="987552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0" y="2377440"/>
            <a:ext cx="1737360" cy="1005840"/>
          </a:xfrm>
          <a:prstGeom prst="roundRect">
            <a:avLst/>
          </a:prstGeom>
          <a:solidFill>
            <a:srgbClr val="0B2E2A"/>
          </a:solidFill>
          <a:ln w="12700">
            <a:solidFill>
              <a:srgbClr val="0FB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valid JSON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72600" y="2880360"/>
            <a:ext cx="182880" cy="0"/>
          </a:xfrm>
          <a:prstGeom prst="line">
            <a:avLst/>
          </a:prstGeom>
          <a:ln w="22225">
            <a:solidFill>
              <a:srgbClr val="0FB5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52120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Calibri"/>
              </a:rPr>
              <a:t>Word/char limits, image placeholders and theme colours are ground-truth checks in a framework-free engine — fixed by a targeted loop, with graceful truncation as the floor.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ML6 — Senior AI Engineer Challenge  ·  Case 2 · GenAI collateral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60">
                <a:solidFill>
                  <a:srgbClr val="0FB5A6"/>
                </a:solidFill>
                <a:latin typeface="Consolas"/>
              </a:rPr>
              <a:t>SECURITY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FFFFFF"/>
                </a:solidFill>
                <a:latin typeface="Trebuchet MS"/>
              </a:rPr>
              <a:t>Secure by default, scales on its 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074920" cy="3108960"/>
          </a:xfrm>
          <a:prstGeom prst="roundRect">
            <a:avLst/>
          </a:prstGeom>
          <a:solidFill>
            <a:srgbClr val="1B2230"/>
          </a:solidFill>
          <a:ln w="12700">
            <a:solidFill>
              <a:srgbClr val="2C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B5A6"/>
                </a:solidFill>
                <a:latin typeface="Consolas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4572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C7D0DE"/>
                </a:solidFill>
                <a:latin typeface="Calibri"/>
              </a:rPr>
              <a:t>•  Google ID-token auth + Cloud Run IAM (defense in depth)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C7D0DE"/>
                </a:solidFill>
                <a:latin typeface="Calibri"/>
              </a:rPr>
              <a:t>•  PDFs are untrusted input — used as grounding data, not instructions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C7D0DE"/>
                </a:solidFill>
                <a:latin typeface="Calibri"/>
              </a:rPr>
              <a:t>•  CMEK-encrypted storage · EU region (europe-west1) · least-privilege IAM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C7D0DE"/>
                </a:solidFill>
                <a:latin typeface="Calibri"/>
              </a:rPr>
              <a:t>•  no tools / side-effects → tiny blast radius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103120"/>
            <a:ext cx="5074920" cy="3108960"/>
          </a:xfrm>
          <a:prstGeom prst="roundRect">
            <a:avLst/>
          </a:prstGeom>
          <a:solidFill>
            <a:srgbClr val="1B2230"/>
          </a:solidFill>
          <a:ln w="12700">
            <a:solidFill>
              <a:srgbClr val="2C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331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B5A6"/>
                </a:solidFill>
                <a:latin typeface="Consolas"/>
              </a:rPr>
              <a:t>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80360"/>
            <a:ext cx="4572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C7D0DE"/>
                </a:solidFill>
                <a:latin typeface="Calibri"/>
              </a:rPr>
              <a:t>•  Cloud Run autoscales 0 → N on concurrency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C7D0DE"/>
                </a:solidFill>
                <a:latin typeface="Calibri"/>
              </a:rPr>
              <a:t>•  Pub/Sub absorbs upload bursts (queue + DLQ)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C7D0DE"/>
                </a:solidFill>
                <a:latin typeface="Calibri"/>
              </a:rPr>
              <a:t>•  long/bursty jobs → ?async=true (off-path)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C7D0DE"/>
                </a:solidFill>
                <a:latin typeface="Calibri"/>
              </a:rPr>
              <a:t>•  stateless → any instance serves any request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C7D0DE"/>
                </a:solidFill>
                <a:latin typeface="Calibri"/>
              </a:rPr>
              <a:t>•  ceiling = Vertex quota, not 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Consolas"/>
              </a:rPr>
              <a:t>ML6 — Senior AI Engineer Challenge  ·  Case 2 · GenAI collateral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60">
                <a:solidFill>
                  <a:srgbClr val="0FB5A6"/>
                </a:solidFill>
                <a:latin typeface="Consolas"/>
              </a:rPr>
              <a:t>LIVE · END-TO-END ON GCP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FFFFFF"/>
                </a:solidFill>
                <a:latin typeface="Trebuchet MS"/>
              </a:rPr>
              <a:t>It runs — from the terminal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6492240" cy="2468880"/>
          </a:xfrm>
          <a:prstGeom prst="roundRect">
            <a:avLst/>
          </a:prstGeom>
          <a:solidFill>
            <a:srgbClr val="0A0E16"/>
          </a:solidFill>
          <a:ln>
            <a:solidFill>
              <a:srgbClr val="2C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6217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E8DF"/>
                </a:solidFill>
                <a:latin typeface="Consolas"/>
              </a:rPr>
              <a:t>$ curl -H "Authorization: Bearer $TOKEN" \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E8DF"/>
                </a:solidFill>
                <a:latin typeface="Consolas"/>
              </a:rPr>
              <a:t>    -F role=sender -F files=@sender.pdf  $URL/companies/demo/documents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E8DF"/>
                </a:solidFill>
                <a:latin typeface="Consolas"/>
              </a:rPr>
              <a:t>$ curl ... -F role=receiver -F files=@receiver.pdf  .../documents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E8DF"/>
                </a:solidFill>
                <a:latin typeface="Consolas"/>
              </a:rPr>
              <a:t>$ curl -X POST $URL/generate -d '{"pair_id":"demo","prompt":"…"}'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9FE8DF"/>
                </a:solidFill>
                <a:latin typeface="Consolas"/>
              </a:rPr>
              <a:t>    → 200  { template_id, blocks:[…], confidence, meta:{…}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65960"/>
            <a:ext cx="3794760" cy="658368"/>
          </a:xfrm>
          <a:prstGeom prst="roundRect">
            <a:avLst/>
          </a:prstGeom>
          <a:solidFill>
            <a:srgbClr val="1B2230"/>
          </a:solidFill>
          <a:ln w="12700">
            <a:solidFill>
              <a:srgbClr val="2C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0FB5A6"/>
                </a:solidFill>
                <a:latin typeface="Calibri"/>
              </a:rPr>
              <a:t>gemini-2.5-pro</a:t>
            </a:r>
          </a:p>
          <a:p>
            <a:pPr algn="ctr"/>
            <a:r>
              <a:rPr sz="1150">
                <a:solidFill>
                  <a:srgbClr val="C7D0DE"/>
                </a:solidFill>
                <a:latin typeface="Calibri"/>
              </a:rPr>
              <a:t>writer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715768"/>
            <a:ext cx="3794760" cy="658368"/>
          </a:xfrm>
          <a:prstGeom prst="roundRect">
            <a:avLst/>
          </a:prstGeom>
          <a:solidFill>
            <a:srgbClr val="1B2230"/>
          </a:solidFill>
          <a:ln w="12700">
            <a:solidFill>
              <a:srgbClr val="2C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0FB5A6"/>
                </a:solidFill>
                <a:latin typeface="Calibri"/>
              </a:rPr>
              <a:t>$0.01</a:t>
            </a:r>
          </a:p>
          <a:p>
            <a:pPr algn="ctr"/>
            <a:r>
              <a:rPr sz="1150">
                <a:solidFill>
                  <a:srgbClr val="C7D0DE"/>
                </a:solidFill>
                <a:latin typeface="Calibri"/>
              </a:rPr>
              <a:t>per brochure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54880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7D0DE"/>
                </a:solidFill>
                <a:latin typeface="Calibri"/>
              </a:rPr>
              <a:t>Output, grounded in the PDFs: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C7D0DE"/>
                </a:solidFill>
                <a:latin typeface="Calibri"/>
              </a:rPr>
              <a:t>“Turn Vanguard's idle time into delivery time.”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82"/>
                </a:solidFill>
                <a:latin typeface="Consolas"/>
              </a:rPr>
              <a:t>ML6 — Senior AI Engineer Challenge  ·  Case 2 · GenAI collateral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60">
                <a:solidFill>
                  <a:srgbClr val="0FB5A6"/>
                </a:solidFill>
                <a:latin typeface="Consolas"/>
              </a:rP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0151E"/>
                </a:solidFill>
                <a:latin typeface="Trebuchet MS"/>
              </a:rPr>
              <a:t>Why these choices?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Pragmatism over shiny — the simplest thing that works, with the upgrade path named.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0607040" cy="7315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5856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51E"/>
                </a:solidFill>
                <a:latin typeface="Trebuchet MS"/>
              </a:rPr>
              <a:t>Deterministic typed pipeline — not an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694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Calibri"/>
              </a:rPr>
              <a:t>predictable, testable, traceable; ADK / Agent Engine only when we add tools or a HITL pause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71800"/>
            <a:ext cx="10607040" cy="7315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815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51E"/>
                </a:solidFill>
                <a:latin typeface="Trebuchet MS"/>
              </a:rPr>
              <a:t>Long-context grounding — not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9242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Calibri"/>
              </a:rPr>
              <a:t>a bounded two-company corpus fits in context — full traceability, no vector DB; RAG when it grows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94760"/>
            <a:ext cx="10607040" cy="7315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0448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51E"/>
                </a:solidFill>
                <a:latin typeface="Trebuchet MS"/>
              </a:rPr>
              <a:t>Managed Gemini on Vertex — not self-hosted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153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Calibri"/>
              </a:rPr>
              <a:t>ship now at ~$0.01 / brochure with no GPUs to run; revisit fine-tuning only at real volume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617720"/>
            <a:ext cx="10607040" cy="7315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727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51E"/>
                </a:solidFill>
                <a:latin typeface="Trebuchet MS"/>
              </a:rPr>
              <a:t>Limits &amp; images enforced in code — not the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03834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Calibri"/>
              </a:rPr>
              <a:t>the LLM is great at language, weak at counting/choosing — code owns word limits, image slots, 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440680"/>
            <a:ext cx="10607040" cy="7315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55040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51E"/>
                </a:solidFill>
                <a:latin typeface="Trebuchet MS"/>
              </a:rPr>
              <a:t>Cloud Run — not GKE or Agent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861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Calibri"/>
              </a:rPr>
              <a:t>stateless + tool-less → scale-to-zero, a tiny blast radius and minimal 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ML6 — Senior AI Engineer Challenge  ·  Case 2 · GenAI collateral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60">
                <a:solidFill>
                  <a:srgbClr val="0FB5A6"/>
                </a:solidFill>
                <a:latin typeface="Consolas"/>
              </a:rPr>
              <a:t>ROADMAP &amp;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0151E"/>
                </a:solidFill>
                <a:latin typeface="Trebuchet MS"/>
              </a:rPr>
              <a:t>A working slice today — a clear path to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5212080" cy="18288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317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151E"/>
                </a:solidFill>
                <a:latin typeface="Trebuchet MS"/>
              </a:rPr>
              <a:t>Multi-tenancy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3405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75569"/>
                </a:solidFill>
                <a:latin typeface="Calibri"/>
              </a:rPr>
              <a:t>tenant from the token; per-tenant CMEK + budgets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4728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E0A23E"/>
                </a:solidFill>
                <a:latin typeface="Calibri"/>
              </a:rPr>
              <a:t>trade-off:  single-tenant ships now — keys already threaded, so it's config not a refactor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148840"/>
            <a:ext cx="5212080" cy="18288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151E"/>
                </a:solidFill>
                <a:latin typeface="Trebuchet MS"/>
              </a:rPr>
              <a:t>Org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73405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75569"/>
                </a:solidFill>
                <a:latin typeface="Calibri"/>
              </a:rPr>
              <a:t>every generation → BigQuery → Looker (cost, groundedness, throughput)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44728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E0A23E"/>
                </a:solidFill>
                <a:latin typeface="Calibri"/>
              </a:rPr>
              <a:t>trade-off:  the BigQuery export is built — only the Looker wiring is left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14800"/>
            <a:ext cx="5212080" cy="18288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97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151E"/>
                </a:solidFill>
                <a:latin typeface="Trebuchet MS"/>
              </a:rPr>
              <a:t>Go agentic → Agent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7000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75569"/>
                </a:solidFill>
                <a:latin typeface="Calibri"/>
              </a:rPr>
              <a:t>tools (live research, image sourcing) or a HITL pause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41324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E0A23E"/>
                </a:solidFill>
                <a:latin typeface="Calibri"/>
              </a:rPr>
              <a:t>trade-off:  agents add cost + opacity — not until there are real tools to 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114800"/>
            <a:ext cx="5212080" cy="18288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0151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97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151E"/>
                </a:solidFill>
                <a:latin typeface="Trebuchet MS"/>
              </a:rPr>
              <a:t>Harden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000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75569"/>
                </a:solidFill>
                <a:latin typeface="Calibri"/>
              </a:rPr>
              <a:t>tune the faithfulness judge · golden eval set in 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41324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E0A23E"/>
                </a:solidFill>
                <a:latin typeface="Calibri"/>
              </a:rPr>
              <a:t>trade-off:  model calls use the global endpoint today — EU residency is the open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nsolas"/>
              </a:rPr>
              <a:t>ML6 — Senior AI Engineer Challenge  ·  Case 2 · GenAI collateral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